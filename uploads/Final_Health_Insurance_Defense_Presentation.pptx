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8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1" r:id="rId20"/>
    <p:sldId id="272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54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3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4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1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10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56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03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5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4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9286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57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8572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79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50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2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6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BETWEEN HEALTH INSURANCE STATUS AND IN-HOSPITAL MORTALITY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MANZOLO DENNIS MWENDWA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BASCC01/1043/2021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ARGAN WEKESA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CO-OPERATIVE UNIVERSITY OF KENYA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83CA-7D7D-440A-B33A-72424AFE1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 and 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C2E0C-9B9B-44FD-8E74-4D90D23683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Declaration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hereby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declare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Proposal</a:t>
            </a:r>
            <a:r>
              <a:rPr lang="en-US" sz="18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my</a:t>
            </a:r>
            <a:r>
              <a:rPr lang="en-US" sz="18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has,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best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my knowledge, not been submitted to any other institution of higher learning for any award.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D6D51-ACA8-4B4C-965A-5DA495DEA1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Acknowledgement</a:t>
            </a: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I express my deepest gratitude and thanks to the Almighty God for the grace, good health, and strength to have made it this far. I would also like to extend my sincere appreciation to my family and friends who gave their moral and financial support to see that the project is executed. I also thank my faculty supervisor, Dr.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Wekesa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, for his scholarly support and guidance in completing this project.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buNone/>
            </a:pPr>
            <a:b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5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study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Literature Review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Research Methodology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Analysis, Results, Findings, and Discussions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Conclusion and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dirty="0"/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widely seen as a key policy tool to improve health outcomes, reducing in-hospital mortality by enabling timely care and easing financial constraints.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Recent research indicates insurance expansions reduce adult mortality and improve healthcare access.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Kenya,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NHIF is the primary public insurer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covering almost 18% of the population, while primary insurers cover nearly 1%.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NHIF has challenges: limited access, inadequate coverage, and poor administration.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Kenyans rely on out-of-pocket healthcare payments.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Uninsured patients face higher risks of mortality.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examines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insurance on in-hospital mortality in Kenya.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Statement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in-hospital mortality rates remain a concern in Kenya.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evidence on whether health insurance reduces these rates.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factors influence mortality outcomes: quality of healthcare services, socioeconomic disparities, and geographic inequalities.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knowledge gap on the correlation between insurance status and in-hospital mortality.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aims to address this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Investigate the correlation between insurance status and in-hospital mortality.</a:t>
            </a:r>
          </a:p>
          <a:p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the influence of key demographic and socioeconomic factors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(age, gender, income, residence, education, and employment) on the likelihood of in-hospital death.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predictive value of health insurance and other covariates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multivariable logistic regression models and classification metrics such as ROC curves and AUC.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potential endogeneity in the insurance-mortality relationship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applying instrumental variable estimation (2SLS) and the control function approach.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conduct diagnostic tests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Durbin-Wu-Hausman test, partial R², F-statistic) to validate the robustness and statistical integrity of the models used.</a:t>
            </a:r>
          </a:p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Justification</a:t>
            </a:r>
            <a:r>
              <a:rPr lang="en-US" dirty="0"/>
              <a:t> and Scope</a:t>
            </a:r>
            <a:r>
              <a:rPr dirty="0"/>
              <a:t>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 into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health insurance and in-hospital mortality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Kenya.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in insurance coverage and utilization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contribute to high in-hospital mortality.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identifying vulnerable populations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affected by poor access to health insurance.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is Kenya-focused and aligns with the local health-care system and with the target population of hospital-admitted patients only.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Outpatients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Mugo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(2023): Insurance lowers mortality in Kenya; adverse selection noted.</a:t>
            </a:r>
          </a:p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Tarus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(2015): 54% lower mortality among insured patients in Kenya.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et al. (2019): Higher ICU mortality in uninsured AKI patients (China).</a:t>
            </a:r>
          </a:p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Savadogo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(2015): Insurance linked to 46% lower child mortality (Burkina Faso).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b="1" dirty="0"/>
              <a:t>Design:</a:t>
            </a:r>
            <a:r>
              <a:rPr dirty="0"/>
              <a:t> </a:t>
            </a:r>
            <a:r>
              <a:rPr lang="en-US" sz="2800" dirty="0"/>
              <a:t>Used q</a:t>
            </a:r>
            <a:r>
              <a:rPr sz="2800" dirty="0"/>
              <a:t>uantitative</a:t>
            </a:r>
            <a:r>
              <a:rPr lang="en-US" sz="2800" dirty="0"/>
              <a:t> research methodology based on secondary data.</a:t>
            </a:r>
            <a:endParaRPr sz="2800" dirty="0"/>
          </a:p>
          <a:p>
            <a:r>
              <a:rPr b="1" dirty="0"/>
              <a:t>Data Source: </a:t>
            </a:r>
            <a:r>
              <a:rPr sz="2800" dirty="0"/>
              <a:t>KIHBS 2015/16, Kenya.</a:t>
            </a:r>
          </a:p>
          <a:p>
            <a:r>
              <a:rPr b="1" dirty="0"/>
              <a:t>Techniques: </a:t>
            </a:r>
            <a:r>
              <a:rPr sz="2800" dirty="0"/>
              <a:t>Logistic regression, IV-2SLS, CFA, Chi-square tests.</a:t>
            </a:r>
          </a:p>
          <a:p>
            <a:r>
              <a:rPr b="1" dirty="0"/>
              <a:t>Tools:</a:t>
            </a:r>
            <a:r>
              <a:rPr lang="en-US" dirty="0"/>
              <a:t> </a:t>
            </a:r>
            <a:r>
              <a:rPr lang="en-US" sz="2800" dirty="0"/>
              <a:t>All analyses were done using Python.</a:t>
            </a:r>
            <a:endParaRPr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b="1" dirty="0"/>
              <a:t>Sample:</a:t>
            </a:r>
            <a:r>
              <a:rPr dirty="0"/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 study utilizes a sample of 1,000 individuals, evenly split between insured and uninsured populations.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/>
              <a:t>Variables: </a:t>
            </a: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variable: Health insurance status.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(1=Death, 0=Survival)-Binary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variable: In-hospital mortality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(1=insured, 0=uninsured)-Binary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variables: Age(Continuous), gender(Categorical), income(Categorical).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17C5-1692-4C83-8FB8-6F05C3DB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Descriptive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C9284C-D536-42A4-AB9D-CAAD70A26AD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08" y="1173317"/>
            <a:ext cx="3020192" cy="2408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E5B8C3-B92C-4258-999B-2CC1F02E86B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73317"/>
            <a:ext cx="3695700" cy="2455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29E77-9233-4B8B-892D-DBC5F2A4180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3920490"/>
            <a:ext cx="3945255" cy="2602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25C3B4-D85D-4D66-843E-C4C1C60E4DD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040" y="3705224"/>
            <a:ext cx="3695700" cy="27339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6400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2600" i="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 logistic regression estimates the probability of in-hospital mortality as a function of health insurance and other covariates.</a:t>
            </a:r>
          </a:p>
          <a:p>
            <a:pPr marL="0" indent="0">
              <a:buNone/>
            </a:pP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 Logit Regression Results                           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==============================================================================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Dep. Variable:              Mortality   No. Observations:                 1000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Model:                          Logit   Df Residuals:                      994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Method:                           MLE   Df Model:                            5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                                                       Pseudo R-</a:t>
            </a:r>
            <a:r>
              <a:rPr lang="en-US" sz="19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squ</a:t>
            </a: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:                 0.06616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                                                    Log-Likelihood:                -260.33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converged:                       True   LL-Null:                       -278.77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Covariance Type:            </a:t>
            </a:r>
            <a:r>
              <a:rPr lang="en-US" sz="19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nonrobust</a:t>
            </a: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   LLR p-value:                 6.318e-07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==============================================================================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                 </a:t>
            </a:r>
            <a:r>
              <a:rPr lang="en-US" sz="19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coef</a:t>
            </a: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    std err          z      P&gt;|z|      [0.025      0.975]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------------------------------------------------------------------------------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const         -3.8316      0.520     -7.374      0.000      -4.850      -2.813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Insurance     -0.6495      0.249     -2.608      0.009      -1.138      -0.161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Age            0.0355      0.007      4.837      0.000       0.021       0.050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Gender        -0.0950      0.240     -0.396      0.692      -0.566       0.376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Residence     -0.3975      0.255     -1.561      0.119      -0.897       0.102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Income     -8.786e-07   2.08e-06     -0.423      0.673   -4.95e-06     3.2e-06</a:t>
            </a:r>
            <a:b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==============================================================================</a:t>
            </a:r>
            <a:endParaRPr sz="19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significantly reduces mortality(β =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0.6495, p = 0.009).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Age is positively and significantly associated with mortality    ( β = 0.0355, p = 0.000)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increases mortality risk.</a:t>
            </a:r>
          </a:p>
          <a:p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statistically significant.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Linear Regression examined how demographic and socioeconomic characteristics influence household income.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higher income.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residence increases income levels.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Linear Regression Coefficients:</a:t>
            </a:r>
            <a:b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Age: 105.6887</a:t>
            </a:r>
            <a:b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Education: -1159.6810</a:t>
            </a:r>
            <a:b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Employment: -1533.4161</a:t>
            </a:r>
            <a:b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Insurance: 2662.9197</a:t>
            </a:r>
            <a:b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</a:b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rial" panose="020B0604020202020204" pitchFamily="34" charset="0"/>
              </a:rPr>
              <a:t>Residence: 4013.6840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Age has a positive relationship with income (β = 105.69), suggesting income increases with 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Living in urban areas is associated with an increase in income of KES 4,013.68, while being insured is also associated with higher income (β = 2,662.92). </a:t>
            </a:r>
            <a:b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</a:b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Instrumental Variable (IV-2SLS)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  <a:p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 for endogeneity using cluster-level insurance rate.</a:t>
            </a:r>
          </a:p>
          <a:p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F-statistic = 17.45 (strong instrument).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IV-2SLS Estimation Summary                          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==============================================================================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Dep. Variable:              Mortality   R-squared:                     -0.0138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Estimator:                    IV-2SLS   Adj. R-squared:                -0.0209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No. Observations:                1000   F-statistic:                    78.112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               P-value (F-stat)                0.0000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              Distribution:                  chi2(7)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Cov</a:t>
            </a: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. Estimator:                robust                                         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                                            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                        Parameter Estimates                              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==============================================================================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       Parameter  Std. Err.     T-stat    P-value    Lower CI    Upper CI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------------------------------------------------------------------------------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Age            0.0021     0.0006     3.3766     0.0007      0.0009      0.0034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Gender        -0.0170     0.0260    -0.6540     0.5131     -0.0679      0.0339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Residence     -0.0385     0.0277    -1.3879     0.1652     -0.0928      0.0159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Education     -0.0144     0.0293    -0.4926     0.6223     -0.0719      0.0430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Employment    -0.0724     0.1148    -0.6303     0.5285     -0.2974      0.1527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Income     -1.864e-07  3.008e-07    -0.6197     0.5355  -7.759e-07   4.032e-07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Insurance      0.1680     0.3727     0.4507     0.6522     -0.5625      0.8984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==============================================================================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Endogenous: Insurance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Instruments: </a:t>
            </a:r>
            <a:r>
              <a:rPr lang="en-US" sz="4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Cluster_Insurance_Rate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Robust Covariance (Heteroskedastic)</a:t>
            </a:r>
            <a:b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Debiased: False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insurance effect is not statistically significant after adjustment.</a:t>
            </a:r>
          </a:p>
          <a:p>
            <a:r>
              <a:rPr lang="en-US" sz="4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 coefficient for insurance was not statistically significant (β = 0.1680, p = 0.6522), suggesting that once endogeneity is corrected, the protective effect of insurance on mortality may not be statistically distinguishable from zero in this model.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Function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64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Test</a:t>
            </a:r>
            <a:r>
              <a:rPr lang="en-US" sz="64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for further endogeneity and unobserved heterogeneity.</a:t>
            </a:r>
            <a:endParaRPr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 using first-stage residuals.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37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                       OLS Regression Results                            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==============================================================================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Dep. Variable:              Mortality   R-squared:                       0.036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Model:                            OLS   Adj. R-squared:                  0.028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Method:                 Least Squares   F-statistic:                     4.578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              Prob (F-statistic):           1.71e-05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Log-Likelihood:                -96.240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No. Observations:                1000   AIC:                             210.5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Df Residuals:                     991   BIC:                             254.6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Df Model:                           8                                         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Covariance Type:            </a:t>
            </a:r>
            <a:r>
              <a:rPr lang="en-US" sz="37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nonrobust</a:t>
            </a: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       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==============================================================================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            </a:t>
            </a:r>
            <a:r>
              <a:rPr lang="en-US" sz="37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coef</a:t>
            </a: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std err          t      P&gt;|t|      [0.025      0.975]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------------------------------------------------------------------------------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const          0.1372      0.214      0.641      0.521      -0.283       0.557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Age            0.0019      0.001      2.218      0.027       0.000       0.004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Gender     -7.703e-05      0.021     -0.004      0.997      -0.041       0.041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Residence     -0.0134      0.029     -0.470      0.639      -0.069       0.043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Education      0.0194      0.034      0.572      0.568      -0.047       0.086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Employment     0.1222      0.217      0.563      0.573      -0.304       0.548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Income      3.047e-08   2.13e-07      0.143      0.886   -3.87e-07    4.48e-07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Insurance     -0.5162      0.780     -0.661      0.508      -2.048       1.015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Residuals      0.4753      0.781      0.609      0.543      -1.056       2.007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==============================================================================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Omnibus:                      600.152   Durbin-Watson:                   1.996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Prob(Omnibus):                  0.000   </a:t>
            </a:r>
            <a:r>
              <a:rPr lang="en-US" sz="37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Jarque-Bera</a:t>
            </a: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(JB):             3466.093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Skew:                           2.923   Prob(JB):                         0.00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Kurtosis:                      10.000   Cond. No.                     1.59e+07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==============================================================================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Notes: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[1] Standard Errors assume that the covariance matrix of the errors is correctly specified.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[2] The condition number is large, 1.59e+07. This might indicate that there are</a:t>
            </a:r>
            <a:b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strong multicollinearity or other numerical problems.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insurance</a:t>
            </a:r>
            <a:r>
              <a:rPr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 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significant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(β = -0.3666, p = 0.166)</a:t>
            </a:r>
            <a:r>
              <a:rPr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post-adjustment.</a:t>
            </a:r>
          </a:p>
          <a:p>
            <a:r>
              <a:rPr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significant.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(β = 0.0021, p &lt; 0.001)</a:t>
            </a:r>
            <a:endParaRPr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5588"/>
            <a:ext cx="8229600" cy="1143000"/>
          </a:xfrm>
        </p:spPr>
        <p:txBody>
          <a:bodyPr/>
          <a:lstStyle/>
          <a:p>
            <a:r>
              <a:rPr dirty="0"/>
              <a:t>Chi-Square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ea typeface="Times New Roman" panose="02020603050405020304" pitchFamily="18" charset="0"/>
              </a:rPr>
              <a:t>Contingency Table: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ea typeface="Times New Roman" panose="02020603050405020304" pitchFamily="18" charset="0"/>
              </a:rPr>
              <a:t>Mortality  Died  Survived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ea typeface="Times New Roman" panose="02020603050405020304" pitchFamily="18" charset="0"/>
              </a:rPr>
              <a:t>Insurance                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ea typeface="Times New Roman" panose="02020603050405020304" pitchFamily="18" charset="0"/>
              </a:rPr>
              <a:t>Insured      27       456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ea typeface="Times New Roman" panose="02020603050405020304" pitchFamily="18" charset="0"/>
              </a:rPr>
              <a:t>Uninsured    53       464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ea typeface="Times New Roman" panose="02020603050405020304" pitchFamily="18" charset="0"/>
              </a:rPr>
              <a:t>Chi-square Statistic: 6.7523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ea typeface="Times New Roman" panose="02020603050405020304" pitchFamily="18" charset="0"/>
              </a:rPr>
              <a:t>Degrees of Freedom: 1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ea typeface="Times New Roman" panose="02020603050405020304" pitchFamily="18" charset="0"/>
              </a:rPr>
              <a:t>P-value: 0.0094</a:t>
            </a:r>
            <a:endParaRPr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association between insurance and mortality (p = 0.0094).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uninsured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mortality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logistic regression findings.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 Good prediction accuracy.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can distinguish outcomes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the accuracy of models.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7AAE68-8D6D-4B25-A8F1-68BEE81D37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08759" y="3910330"/>
            <a:ext cx="5149215" cy="30810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CE3C0C-1D44-46D9-9AC0-4EBBA92C028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16378" y="381475"/>
            <a:ext cx="5133975" cy="278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4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dirty="0"/>
          </a:p>
          <a:p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is linked to reduced in-hospital mortality.</a:t>
            </a:r>
          </a:p>
          <a:p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Endogeneity weakens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effect in some models.</a:t>
            </a:r>
          </a:p>
          <a:p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is significantly associated with reduced in-hospital mortality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logistic regression model (β = -0.6495, p = 0.009).</a:t>
            </a:r>
          </a:p>
          <a:p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is the strongest and most consistent predictor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in-hospital mortality across all models (positive and significant).</a:t>
            </a:r>
          </a:p>
          <a:p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Gender, residence, and income were not statistically significant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predictors of mortality in any model.</a:t>
            </a:r>
          </a:p>
          <a:p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is associated with higher income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(β = 2,662.92),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residence also predicts higher income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(β = 4,013.68).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Broaden NHIF and community insurance access.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Subsidize premiums for low-income groups.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rural health facilities and awareness campaigns.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 insurance packages to cover critical and emergency services.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FBD61-C332-4051-BD77-E9B5D8DC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3DDB2B-237E-4258-AE51-6AD110DFEF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16440"/>
            <a:ext cx="8597738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Mugo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G., et al. (2023)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impact of health insurance enrollment on health outcomes in Kenya.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recent and Kenya-specific study showed reduced mortality and improved access among the insured.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Stone, G. S., et al. (2014)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association between insurance status and in-hospital mortality on the public medical wards of a Kenyan referral hospital.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Directly investigates in-hospital mortality and insurance coverage in Kenya. Found a 54% lower mortality among the insured.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Acharya, A., et al. (2013)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impact of health insurance schemes for the informal sector in low- and middle-income countries: A systematic review.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Broad LMIC context; highlights both benefits and challenges of insurance schemes.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Haushofer, J., et al. (2017)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Peace of mind: Health insurance reduces stress and cortisol levels—Evidence from a randomized experiment in Kenya.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non-mortality-related benefits of insurance in Kenya.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Lu, C., et al. (2012)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Towards universal health coverage: An evaluation of Rwanda </a:t>
            </a:r>
            <a:r>
              <a:rPr kumimoji="0" lang="en-US" altLang="en-US" sz="13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Mutuelles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its first eight years.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insurance expansion improved health outcomes and reduced mortality in a similar African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Bein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A., et al. (2017)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spending and health outcomes: Evidence from selected East African countries.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regional evidence of how investments in healthcare relate to outcomes, relevant for policy implications.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Kimani, D. N., et al. (2016)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econometric analysis of health care utilization in Kenya.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Kenyan-specific evidence on determinants of healthcare access and use, complementing mortality-focused studies.</a:t>
            </a:r>
          </a:p>
        </p:txBody>
      </p:sp>
    </p:spTree>
    <p:extLst>
      <p:ext uri="{BB962C8B-B14F-4D97-AF65-F5344CB8AC3E}">
        <p14:creationId xmlns:p14="http://schemas.microsoft.com/office/powerpoint/2010/main" val="1621026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A425-A2BE-4D24-9D76-C118ADC77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434141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341</TotalTime>
  <Words>2152</Words>
  <Application>Microsoft Office PowerPoint</Application>
  <PresentationFormat>On-screen Show (4:3)</PresentationFormat>
  <Paragraphs>154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Century Gothic</vt:lpstr>
      <vt:lpstr>Courier New</vt:lpstr>
      <vt:lpstr>Times New Roman</vt:lpstr>
      <vt:lpstr>Wingdings</vt:lpstr>
      <vt:lpstr>Wingdings 3</vt:lpstr>
      <vt:lpstr>Wisp</vt:lpstr>
      <vt:lpstr>THE CORRELATION BETWEEN HEALTH INSURANCE STATUS AND IN-HOSPITAL MORTALITY</vt:lpstr>
      <vt:lpstr>Declaration and Acknowledgement</vt:lpstr>
      <vt:lpstr>Presentation Outline</vt:lpstr>
      <vt:lpstr>Background of the Study</vt:lpstr>
      <vt:lpstr>Statement of the Problem</vt:lpstr>
      <vt:lpstr>Objectives of the Study</vt:lpstr>
      <vt:lpstr>Justification and Scope of the Study</vt:lpstr>
      <vt:lpstr>Literature Review</vt:lpstr>
      <vt:lpstr>Research Methodology Overview</vt:lpstr>
      <vt:lpstr>Data Description</vt:lpstr>
      <vt:lpstr>Descriptive analysis</vt:lpstr>
      <vt:lpstr>Logistic Regression</vt:lpstr>
      <vt:lpstr>Linear Regression</vt:lpstr>
      <vt:lpstr>Instrumental Variable (IV-2SLS)</vt:lpstr>
      <vt:lpstr>Control Function Approach</vt:lpstr>
      <vt:lpstr>Chi-Square Test</vt:lpstr>
      <vt:lpstr>Model Evaluation</vt:lpstr>
      <vt:lpstr>PowerPoint Presentation</vt:lpstr>
      <vt:lpstr>Conclusion</vt:lpstr>
      <vt:lpstr>Recommendations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Correlation Between Health Insurance Status and In-Hospital Mortality</dc:title>
  <dc:subject/>
  <dc:creator/>
  <cp:keywords/>
  <dc:description>generated using python-pptx</dc:description>
  <cp:lastModifiedBy>Dennis Mwendwa</cp:lastModifiedBy>
  <cp:revision>35</cp:revision>
  <dcterms:created xsi:type="dcterms:W3CDTF">2013-01-27T09:14:16Z</dcterms:created>
  <dcterms:modified xsi:type="dcterms:W3CDTF">2025-04-25T05:06:28Z</dcterms:modified>
  <cp:category/>
</cp:coreProperties>
</file>