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73" r:id="rId3"/>
    <p:sldId id="259" r:id="rId4"/>
    <p:sldId id="274" r:id="rId5"/>
    <p:sldId id="266" r:id="rId6"/>
    <p:sldId id="260" r:id="rId7"/>
    <p:sldId id="265" r:id="rId8"/>
  </p:sldIdLst>
  <p:sldSz cx="18288000" cy="10287000"/>
  <p:notesSz cx="6858000" cy="9144000"/>
  <p:embeddedFontLst>
    <p:embeddedFont>
      <p:font typeface="Lexend" panose="020B0604020202020204" charset="0"/>
      <p:regular r:id="rId10"/>
      <p:bold r:id="rId11"/>
    </p:embeddedFont>
    <p:embeddedFont>
      <p:font typeface="Poppins" panose="00000500000000000000" pitchFamily="2" charset="0"/>
      <p:regular r:id="rId12"/>
      <p:bold r:id="rId13"/>
      <p:italic r:id="rId14"/>
      <p:boldItalic r:id="rId15"/>
    </p:embeddedFont>
    <p:embeddedFont>
      <p:font typeface="Poppins Bold" panose="020B0604020202020204" charset="0"/>
      <p:bold r:id="rId16"/>
    </p:embeddedFont>
    <p:embeddedFont>
      <p:font typeface="Quattrocento Sans" panose="020B0502050000020003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gK84yLrvxt/KMplvdoD7q+xpnI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259" autoAdjust="0"/>
  </p:normalViewPr>
  <p:slideViewPr>
    <p:cSldViewPr snapToGrid="0">
      <p:cViewPr>
        <p:scale>
          <a:sx n="47" d="100"/>
          <a:sy n="47" d="100"/>
        </p:scale>
        <p:origin x="524" y="-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Rainfall &amp; Temperature</a:t>
            </a:r>
          </a:p>
        </c:rich>
      </c:tx>
      <c:layout>
        <c:manualLayout>
          <c:xMode val="edge"/>
          <c:yMode val="edge"/>
          <c:x val="0.14844407642763158"/>
          <c:y val="9.567071631716855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8077396171763722E-2"/>
          <c:y val="7.0773499015748031E-2"/>
          <c:w val="0.82324186761608686"/>
          <c:h val="0.811289493110236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Rainfall(mm)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APRIL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60</c:v>
                </c:pt>
                <c:pt idx="2">
                  <c:v>86</c:v>
                </c:pt>
                <c:pt idx="3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8B-4A90-A610-4E459A4E21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Temperature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stdErr"/>
            <c:noEndCap val="0"/>
            <c:spPr>
              <a:noFill/>
              <a:ln w="9525">
                <a:solidFill>
                  <a:schemeClr val="dk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APRIL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16</c:v>
                </c:pt>
                <c:pt idx="2">
                  <c:v>25</c:v>
                </c:pt>
                <c:pt idx="3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8B-4A90-A610-4E459A4E213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746365616"/>
        <c:axId val="746366032"/>
      </c:barChart>
      <c:catAx>
        <c:axId val="746365616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6366032"/>
        <c:crosses val="autoZero"/>
        <c:auto val="1"/>
        <c:lblAlgn val="ctr"/>
        <c:lblOffset val="100"/>
        <c:noMultiLvlLbl val="0"/>
      </c:catAx>
      <c:valAx>
        <c:axId val="74636603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Rainfall</a:t>
                </a:r>
              </a:p>
            </c:rich>
          </c:tx>
          <c:layout>
            <c:manualLayout>
              <c:xMode val="edge"/>
              <c:yMode val="edge"/>
              <c:x val="1.1458333333333333E-2"/>
              <c:y val="0.4426487450787401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6365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Agricultural yield over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Maize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5C-40A4-A5A6-6172D5E1BF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Cows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5C-40A4-A5A6-6172D5E1BF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Poultry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35C-40A4-A5A6-6172D5E1BFB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68586640"/>
        <c:axId val="768585392"/>
      </c:lineChart>
      <c:catAx>
        <c:axId val="768586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8585392"/>
        <c:crosses val="autoZero"/>
        <c:auto val="1"/>
        <c:lblAlgn val="ctr"/>
        <c:lblOffset val="100"/>
        <c:noMultiLvlLbl val="0"/>
      </c:catAx>
      <c:valAx>
        <c:axId val="768585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8586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Fertilizer Usage Breakdown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109-49AD-B10A-77BF7415510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109-49AD-B10A-77BF7415510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1109-49AD-B10A-77BF7415510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1109-49AD-B10A-77BF7415510A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Nitrojen</c:v>
                </c:pt>
                <c:pt idx="1">
                  <c:v>Potassium</c:v>
                </c:pt>
                <c:pt idx="2">
                  <c:v>Organic</c:v>
                </c:pt>
                <c:pt idx="3">
                  <c:v>Phosphorus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5B-427F-BEC3-B4A5A927645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D2B198-C566-4FFC-BB8A-99FAE339A342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50297A4C-5CEB-460B-A95A-B4EF8C3C4E25}">
      <dgm:prSet phldrT="[Text]"/>
      <dgm:spPr>
        <a:solidFill>
          <a:srgbClr val="00B050">
            <a:alpha val="50000"/>
          </a:srgbClr>
        </a:solidFill>
      </dgm:spPr>
      <dgm:t>
        <a:bodyPr/>
        <a:lstStyle/>
        <a:p>
          <a:r>
            <a:rPr lang="en-US" b="1" dirty="0"/>
            <a:t>SDG 2           Zero Hunger</a:t>
          </a:r>
        </a:p>
      </dgm:t>
    </dgm:pt>
    <dgm:pt modelId="{E9FCB326-76A8-4365-9D90-8E5EC498829F}" type="parTrans" cxnId="{E28A6C0B-D339-4828-A936-55ECFFC3C486}">
      <dgm:prSet/>
      <dgm:spPr/>
      <dgm:t>
        <a:bodyPr/>
        <a:lstStyle/>
        <a:p>
          <a:endParaRPr lang="en-US"/>
        </a:p>
      </dgm:t>
    </dgm:pt>
    <dgm:pt modelId="{708E19E0-9E78-44C4-871F-FDDCAB18C08B}" type="sibTrans" cxnId="{E28A6C0B-D339-4828-A936-55ECFFC3C486}">
      <dgm:prSet/>
      <dgm:spPr/>
      <dgm:t>
        <a:bodyPr/>
        <a:lstStyle/>
        <a:p>
          <a:endParaRPr lang="en-US"/>
        </a:p>
      </dgm:t>
    </dgm:pt>
    <dgm:pt modelId="{199B759A-1D8B-4BFF-ACBE-92952CA9E0F5}">
      <dgm:prSet phldrT="[Text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dirty="0"/>
            <a:t>SDG 13 Climate Action</a:t>
          </a:r>
        </a:p>
      </dgm:t>
    </dgm:pt>
    <dgm:pt modelId="{566704E0-EB6D-4471-9054-9F833833541A}" type="parTrans" cxnId="{491A71AF-7A12-416E-AA83-1A9CF0A4F692}">
      <dgm:prSet/>
      <dgm:spPr/>
      <dgm:t>
        <a:bodyPr/>
        <a:lstStyle/>
        <a:p>
          <a:endParaRPr lang="en-US"/>
        </a:p>
      </dgm:t>
    </dgm:pt>
    <dgm:pt modelId="{E1AAC6DF-98C2-46D8-AAAC-3B46FAED215C}" type="sibTrans" cxnId="{491A71AF-7A12-416E-AA83-1A9CF0A4F692}">
      <dgm:prSet/>
      <dgm:spPr/>
      <dgm:t>
        <a:bodyPr/>
        <a:lstStyle/>
        <a:p>
          <a:endParaRPr lang="en-US"/>
        </a:p>
      </dgm:t>
    </dgm:pt>
    <dgm:pt modelId="{5443A41C-1032-4ED1-B710-FB35E430C9DC}">
      <dgm:prSet phldrT="[Text]"/>
      <dgm:spPr>
        <a:solidFill>
          <a:schemeClr val="accent3">
            <a:alpha val="50000"/>
          </a:schemeClr>
        </a:solidFill>
      </dgm:spPr>
      <dgm:t>
        <a:bodyPr/>
        <a:lstStyle/>
        <a:p>
          <a:r>
            <a:rPr lang="en-US" b="1" dirty="0"/>
            <a:t>SGD 9 Industry, Innovation &amp; Infrastructure</a:t>
          </a:r>
        </a:p>
      </dgm:t>
    </dgm:pt>
    <dgm:pt modelId="{F20F08B8-2478-42EC-BA26-4B48BBE48458}" type="parTrans" cxnId="{DC60DEF3-4475-4409-9AE0-598F9F06C475}">
      <dgm:prSet/>
      <dgm:spPr/>
      <dgm:t>
        <a:bodyPr/>
        <a:lstStyle/>
        <a:p>
          <a:endParaRPr lang="en-US"/>
        </a:p>
      </dgm:t>
    </dgm:pt>
    <dgm:pt modelId="{EC69ACC0-C370-4556-9832-39ADE7AAE2D7}" type="sibTrans" cxnId="{DC60DEF3-4475-4409-9AE0-598F9F06C475}">
      <dgm:prSet/>
      <dgm:spPr/>
      <dgm:t>
        <a:bodyPr/>
        <a:lstStyle/>
        <a:p>
          <a:endParaRPr lang="en-US"/>
        </a:p>
      </dgm:t>
    </dgm:pt>
    <dgm:pt modelId="{CD137268-1AE9-4569-84C2-5DEA89BB9177}" type="pres">
      <dgm:prSet presAssocID="{95D2B198-C566-4FFC-BB8A-99FAE339A342}" presName="compositeShape" presStyleCnt="0">
        <dgm:presLayoutVars>
          <dgm:chMax val="7"/>
          <dgm:dir/>
          <dgm:resizeHandles val="exact"/>
        </dgm:presLayoutVars>
      </dgm:prSet>
      <dgm:spPr/>
    </dgm:pt>
    <dgm:pt modelId="{C80F8303-ECE8-459E-8880-BC0B41600927}" type="pres">
      <dgm:prSet presAssocID="{50297A4C-5CEB-460B-A95A-B4EF8C3C4E25}" presName="circ1" presStyleLbl="vennNode1" presStyleIdx="0" presStyleCnt="3" custLinFactNeighborX="-1968" custLinFactNeighborY="-5173"/>
      <dgm:spPr/>
    </dgm:pt>
    <dgm:pt modelId="{B2321F8B-399B-4A48-BE3B-442BA3EF36E5}" type="pres">
      <dgm:prSet presAssocID="{50297A4C-5CEB-460B-A95A-B4EF8C3C4E2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F4C026F-83A7-4B61-B2AA-3A9FE9E72991}" type="pres">
      <dgm:prSet presAssocID="{199B759A-1D8B-4BFF-ACBE-92952CA9E0F5}" presName="circ2" presStyleLbl="vennNode1" presStyleIdx="1" presStyleCnt="3" custLinFactNeighborX="343" custLinFactNeighborY="1223"/>
      <dgm:spPr/>
    </dgm:pt>
    <dgm:pt modelId="{6AA33794-CAC3-449E-AA87-2E0B705B85C9}" type="pres">
      <dgm:prSet presAssocID="{199B759A-1D8B-4BFF-ACBE-92952CA9E0F5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F81E925-4135-46DF-816D-A7426F42FC4C}" type="pres">
      <dgm:prSet presAssocID="{5443A41C-1032-4ED1-B710-FB35E430C9DC}" presName="circ3" presStyleLbl="vennNode1" presStyleIdx="2" presStyleCnt="3" custLinFactNeighborX="-9933" custLinFactNeighborY="8829"/>
      <dgm:spPr/>
    </dgm:pt>
    <dgm:pt modelId="{6E705EC7-655A-41EF-B39A-9F10F3E7CDAE}" type="pres">
      <dgm:prSet presAssocID="{5443A41C-1032-4ED1-B710-FB35E430C9DC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E28A6C0B-D339-4828-A936-55ECFFC3C486}" srcId="{95D2B198-C566-4FFC-BB8A-99FAE339A342}" destId="{50297A4C-5CEB-460B-A95A-B4EF8C3C4E25}" srcOrd="0" destOrd="0" parTransId="{E9FCB326-76A8-4365-9D90-8E5EC498829F}" sibTransId="{708E19E0-9E78-44C4-871F-FDDCAB18C08B}"/>
    <dgm:cxn modelId="{C6BC035E-540C-4155-A136-8241097A3253}" type="presOf" srcId="{5443A41C-1032-4ED1-B710-FB35E430C9DC}" destId="{EF81E925-4135-46DF-816D-A7426F42FC4C}" srcOrd="0" destOrd="0" presId="urn:microsoft.com/office/officeart/2005/8/layout/venn1"/>
    <dgm:cxn modelId="{4E94EC57-F29C-45F9-8095-4E157AC72211}" type="presOf" srcId="{5443A41C-1032-4ED1-B710-FB35E430C9DC}" destId="{6E705EC7-655A-41EF-B39A-9F10F3E7CDAE}" srcOrd="1" destOrd="0" presId="urn:microsoft.com/office/officeart/2005/8/layout/venn1"/>
    <dgm:cxn modelId="{A3313A5A-C1BC-451F-B0E6-847F9039318B}" type="presOf" srcId="{50297A4C-5CEB-460B-A95A-B4EF8C3C4E25}" destId="{B2321F8B-399B-4A48-BE3B-442BA3EF36E5}" srcOrd="1" destOrd="0" presId="urn:microsoft.com/office/officeart/2005/8/layout/venn1"/>
    <dgm:cxn modelId="{F218E87A-7CCC-485C-AD63-208082E370C0}" type="presOf" srcId="{199B759A-1D8B-4BFF-ACBE-92952CA9E0F5}" destId="{6AA33794-CAC3-449E-AA87-2E0B705B85C9}" srcOrd="1" destOrd="0" presId="urn:microsoft.com/office/officeart/2005/8/layout/venn1"/>
    <dgm:cxn modelId="{491A71AF-7A12-416E-AA83-1A9CF0A4F692}" srcId="{95D2B198-C566-4FFC-BB8A-99FAE339A342}" destId="{199B759A-1D8B-4BFF-ACBE-92952CA9E0F5}" srcOrd="1" destOrd="0" parTransId="{566704E0-EB6D-4471-9054-9F833833541A}" sibTransId="{E1AAC6DF-98C2-46D8-AAAC-3B46FAED215C}"/>
    <dgm:cxn modelId="{63868BB0-D8F7-4603-B25C-9FAA5ECF4B88}" type="presOf" srcId="{50297A4C-5CEB-460B-A95A-B4EF8C3C4E25}" destId="{C80F8303-ECE8-459E-8880-BC0B41600927}" srcOrd="0" destOrd="0" presId="urn:microsoft.com/office/officeart/2005/8/layout/venn1"/>
    <dgm:cxn modelId="{F0E253E1-8E7D-4B5C-BDB8-70771103F6C2}" type="presOf" srcId="{199B759A-1D8B-4BFF-ACBE-92952CA9E0F5}" destId="{0F4C026F-83A7-4B61-B2AA-3A9FE9E72991}" srcOrd="0" destOrd="0" presId="urn:microsoft.com/office/officeart/2005/8/layout/venn1"/>
    <dgm:cxn modelId="{DC60DEF3-4475-4409-9AE0-598F9F06C475}" srcId="{95D2B198-C566-4FFC-BB8A-99FAE339A342}" destId="{5443A41C-1032-4ED1-B710-FB35E430C9DC}" srcOrd="2" destOrd="0" parTransId="{F20F08B8-2478-42EC-BA26-4B48BBE48458}" sibTransId="{EC69ACC0-C370-4556-9832-39ADE7AAE2D7}"/>
    <dgm:cxn modelId="{D44DBCF9-7C3B-46AB-9A9E-0C855F5CA363}" type="presOf" srcId="{95D2B198-C566-4FFC-BB8A-99FAE339A342}" destId="{CD137268-1AE9-4569-84C2-5DEA89BB9177}" srcOrd="0" destOrd="0" presId="urn:microsoft.com/office/officeart/2005/8/layout/venn1"/>
    <dgm:cxn modelId="{482F8DB6-08FB-440E-87A3-D0383FE1BDBE}" type="presParOf" srcId="{CD137268-1AE9-4569-84C2-5DEA89BB9177}" destId="{C80F8303-ECE8-459E-8880-BC0B41600927}" srcOrd="0" destOrd="0" presId="urn:microsoft.com/office/officeart/2005/8/layout/venn1"/>
    <dgm:cxn modelId="{C9B20F3C-7082-46A4-8E5B-09B737F604BF}" type="presParOf" srcId="{CD137268-1AE9-4569-84C2-5DEA89BB9177}" destId="{B2321F8B-399B-4A48-BE3B-442BA3EF36E5}" srcOrd="1" destOrd="0" presId="urn:microsoft.com/office/officeart/2005/8/layout/venn1"/>
    <dgm:cxn modelId="{18DBF8A1-0EF3-4E78-9BC0-60BA1FEAF8C8}" type="presParOf" srcId="{CD137268-1AE9-4569-84C2-5DEA89BB9177}" destId="{0F4C026F-83A7-4B61-B2AA-3A9FE9E72991}" srcOrd="2" destOrd="0" presId="urn:microsoft.com/office/officeart/2005/8/layout/venn1"/>
    <dgm:cxn modelId="{26C59475-9025-4C56-A4E6-2F19F28CB5DD}" type="presParOf" srcId="{CD137268-1AE9-4569-84C2-5DEA89BB9177}" destId="{6AA33794-CAC3-449E-AA87-2E0B705B85C9}" srcOrd="3" destOrd="0" presId="urn:microsoft.com/office/officeart/2005/8/layout/venn1"/>
    <dgm:cxn modelId="{272FD106-A60E-4E28-8DB6-B39FE86239A4}" type="presParOf" srcId="{CD137268-1AE9-4569-84C2-5DEA89BB9177}" destId="{EF81E925-4135-46DF-816D-A7426F42FC4C}" srcOrd="4" destOrd="0" presId="urn:microsoft.com/office/officeart/2005/8/layout/venn1"/>
    <dgm:cxn modelId="{263CBC5E-C205-4C4B-9845-84926F36AC37}" type="presParOf" srcId="{CD137268-1AE9-4569-84C2-5DEA89BB9177}" destId="{6E705EC7-655A-41EF-B39A-9F10F3E7CDAE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0F8303-ECE8-459E-8880-BC0B41600927}">
      <dsp:nvSpPr>
        <dsp:cNvPr id="0" name=""/>
        <dsp:cNvSpPr/>
      </dsp:nvSpPr>
      <dsp:spPr>
        <a:xfrm>
          <a:off x="4138898" y="0"/>
          <a:ext cx="3765974" cy="3765974"/>
        </a:xfrm>
        <a:prstGeom prst="ellipse">
          <a:avLst/>
        </a:prstGeom>
        <a:solidFill>
          <a:srgbClr val="00B05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SDG 2           Zero Hunger</a:t>
          </a:r>
        </a:p>
      </dsp:txBody>
      <dsp:txXfrm>
        <a:off x="4641028" y="659045"/>
        <a:ext cx="2761714" cy="1694688"/>
      </dsp:txXfrm>
    </dsp:sp>
    <dsp:sp modelId="{0F4C026F-83A7-4B61-B2AA-3A9FE9E72991}">
      <dsp:nvSpPr>
        <dsp:cNvPr id="0" name=""/>
        <dsp:cNvSpPr/>
      </dsp:nvSpPr>
      <dsp:spPr>
        <a:xfrm>
          <a:off x="5584819" y="2478249"/>
          <a:ext cx="3765974" cy="3765974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SDG 13 Climate Action</a:t>
          </a:r>
        </a:p>
      </dsp:txBody>
      <dsp:txXfrm>
        <a:off x="6736579" y="3451126"/>
        <a:ext cx="2259584" cy="2071285"/>
      </dsp:txXfrm>
    </dsp:sp>
    <dsp:sp modelId="{EF81E925-4135-46DF-816D-A7426F42FC4C}">
      <dsp:nvSpPr>
        <dsp:cNvPr id="0" name=""/>
        <dsp:cNvSpPr/>
      </dsp:nvSpPr>
      <dsp:spPr>
        <a:xfrm>
          <a:off x="2480049" y="2510649"/>
          <a:ext cx="3765974" cy="3765974"/>
        </a:xfrm>
        <a:prstGeom prst="ellipse">
          <a:avLst/>
        </a:prstGeom>
        <a:solidFill>
          <a:schemeClr val="accent3">
            <a:alpha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SGD 9 Industry, Innovation &amp; Infrastructure</a:t>
          </a:r>
        </a:p>
      </dsp:txBody>
      <dsp:txXfrm>
        <a:off x="2834678" y="3483526"/>
        <a:ext cx="2259584" cy="20712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60e6708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000" dirty="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" name="Google Shape;91;g3360e6708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E6297B5-0C47-A73E-FE8A-EB1055CA2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09C2F650-FFE9-569C-EA6A-2439BF18B9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2CBF7BB1-10D3-62DD-16A7-E9D458B574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4510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9e78c63b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g29e78c63b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9e78c63b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g29e78c63b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66801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D3B53913-42A8-CEB9-782A-2C995DA0B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9e78c63b65_0_0:notes">
            <a:extLst>
              <a:ext uri="{FF2B5EF4-FFF2-40B4-BE49-F238E27FC236}">
                <a16:creationId xmlns:a16="http://schemas.microsoft.com/office/drawing/2014/main" id="{4CB31DD7-8545-DEB6-FAB8-1B32FC849E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g29e78c63b65_0_0:notes">
            <a:extLst>
              <a:ext uri="{FF2B5EF4-FFF2-40B4-BE49-F238E27FC236}">
                <a16:creationId xmlns:a16="http://schemas.microsoft.com/office/drawing/2014/main" id="{A581AB34-1714-6B3D-1E86-8BEFEC01C7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28305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54e73f43a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2000" dirty="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g3554e73f43a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lue Chain">
  <p:cSld name="TITLE_1_1_1_1_1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554e73f43a_0_106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sv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4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9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8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E1670A1-90E0-9838-79DF-C5E3B3DDA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05284"/>
            <a:ext cx="7532913" cy="103338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5284"/>
            <a:ext cx="7572985" cy="10392284"/>
          </a:xfrm>
          <a:prstGeom prst="rect">
            <a:avLst/>
          </a:prstGeom>
        </p:spPr>
      </p:pic>
      <p:sp>
        <p:nvSpPr>
          <p:cNvPr id="95" name="Google Shape;95;g3360e670899_0_0"/>
          <p:cNvSpPr txBox="1"/>
          <p:nvPr/>
        </p:nvSpPr>
        <p:spPr>
          <a:xfrm>
            <a:off x="8411202" y="3424785"/>
            <a:ext cx="9600048" cy="4091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3200" dirty="0">
              <a:solidFill>
                <a:schemeClr val="dk1"/>
              </a:solidFill>
              <a:latin typeface="Quattrocento Sans"/>
            </a:endParaRPr>
          </a:p>
          <a:p>
            <a:r>
              <a:rPr lang="en-US" sz="4000" b="1" dirty="0" err="1">
                <a:solidFill>
                  <a:schemeClr val="dk1"/>
                </a:solidFill>
                <a:latin typeface="Quattrocento Sans"/>
              </a:rPr>
              <a:t>AgriTrue</a:t>
            </a:r>
            <a:r>
              <a:rPr lang="en-US" sz="4000" b="1" dirty="0">
                <a:solidFill>
                  <a:schemeClr val="dk1"/>
                </a:solidFill>
                <a:latin typeface="Quattrocento Sans"/>
              </a:rPr>
              <a:t>: </a:t>
            </a:r>
            <a:r>
              <a:rPr lang="en-US" sz="4000" b="1" i="1" dirty="0">
                <a:solidFill>
                  <a:schemeClr val="dk1"/>
                </a:solidFill>
                <a:latin typeface="Quattrocento Sans"/>
              </a:rPr>
              <a:t>Empowering informed agriculture using AI and the community.</a:t>
            </a:r>
          </a:p>
          <a:p>
            <a:pPr algn="just"/>
            <a:endParaRPr lang="en-US" sz="3200" b="1" i="1" dirty="0">
              <a:solidFill>
                <a:schemeClr val="dk1"/>
              </a:solidFill>
              <a:latin typeface="Quattrocento Sans"/>
            </a:endParaRPr>
          </a:p>
          <a:p>
            <a:r>
              <a:rPr lang="en-US" sz="2400" b="1" i="1" dirty="0">
                <a:solidFill>
                  <a:schemeClr val="dk1"/>
                </a:solidFill>
                <a:latin typeface="Quattrocento Sans"/>
              </a:rPr>
              <a:t>COMBATTING MISINFORMATION &amp;  DISINFORMATION IN AGRICULTURE</a:t>
            </a:r>
          </a:p>
          <a:p>
            <a:pPr algn="just"/>
            <a:r>
              <a:rPr lang="en-US" sz="3200" b="1" i="1" dirty="0">
                <a:solidFill>
                  <a:schemeClr val="dk1"/>
                </a:solidFill>
                <a:latin typeface="Quattrocento Sans"/>
              </a:rPr>
              <a:t>  </a:t>
            </a:r>
          </a:p>
          <a:p>
            <a:endParaRPr lang="en-US" sz="3200" i="1" dirty="0">
              <a:solidFill>
                <a:schemeClr val="dk1"/>
              </a:solidFill>
              <a:latin typeface="Quattrocento Sans"/>
            </a:endParaRPr>
          </a:p>
          <a:p>
            <a:endParaRPr lang="en-US" sz="32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E6F00D01-2C50-66A1-309C-6EDF0EBBE4FD}"/>
              </a:ext>
            </a:extLst>
          </p:cNvPr>
          <p:cNvSpPr/>
          <p:nvPr/>
        </p:nvSpPr>
        <p:spPr>
          <a:xfrm>
            <a:off x="-40070" y="-1207874"/>
            <a:ext cx="1863344" cy="3327400"/>
          </a:xfrm>
          <a:custGeom>
            <a:avLst/>
            <a:gdLst/>
            <a:ahLst/>
            <a:cxnLst/>
            <a:rect l="l" t="t" r="r" b="b"/>
            <a:pathLst>
              <a:path w="2795016" h="4991100">
                <a:moveTo>
                  <a:pt x="0" y="0"/>
                </a:moveTo>
                <a:lnTo>
                  <a:pt x="2795016" y="0"/>
                </a:lnTo>
                <a:lnTo>
                  <a:pt x="2795016" y="4991100"/>
                </a:lnTo>
                <a:lnTo>
                  <a:pt x="0" y="4991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buClrTx/>
              <a:buFontTx/>
              <a:buNone/>
            </a:pPr>
            <a:endParaRPr lang="en-KE" sz="12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B729CDB1-D38D-9DC8-7986-25BF99EEE456}"/>
              </a:ext>
            </a:extLst>
          </p:cNvPr>
          <p:cNvSpPr/>
          <p:nvPr/>
        </p:nvSpPr>
        <p:spPr>
          <a:xfrm flipH="1">
            <a:off x="16508489" y="-1249438"/>
            <a:ext cx="1863344" cy="3327400"/>
          </a:xfrm>
          <a:custGeom>
            <a:avLst/>
            <a:gdLst/>
            <a:ahLst/>
            <a:cxnLst/>
            <a:rect l="l" t="t" r="r" b="b"/>
            <a:pathLst>
              <a:path w="2795016" h="4991100">
                <a:moveTo>
                  <a:pt x="2795016" y="0"/>
                </a:moveTo>
                <a:lnTo>
                  <a:pt x="0" y="0"/>
                </a:lnTo>
                <a:lnTo>
                  <a:pt x="0" y="4991100"/>
                </a:lnTo>
                <a:lnTo>
                  <a:pt x="2795016" y="4991100"/>
                </a:lnTo>
                <a:lnTo>
                  <a:pt x="27950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E" sz="120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5291" y="7834745"/>
            <a:ext cx="1857307" cy="2393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E76EB51-121B-9B80-3DE0-C04F89DE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>
            <a:extLst>
              <a:ext uri="{FF2B5EF4-FFF2-40B4-BE49-F238E27FC236}">
                <a16:creationId xmlns:a16="http://schemas.microsoft.com/office/drawing/2014/main" id="{E93C5849-ED4D-8471-2F3C-5F5ACA53C02F}"/>
              </a:ext>
            </a:extLst>
          </p:cNvPr>
          <p:cNvGrpSpPr/>
          <p:nvPr/>
        </p:nvGrpSpPr>
        <p:grpSpPr>
          <a:xfrm>
            <a:off x="0" y="-144662"/>
            <a:ext cx="18288118" cy="412343"/>
            <a:chOff x="0" y="-38100"/>
            <a:chExt cx="4816592" cy="108600"/>
          </a:xfrm>
        </p:grpSpPr>
        <p:sp>
          <p:nvSpPr>
            <p:cNvPr id="102" name="Google Shape;102;p2">
              <a:extLst>
                <a:ext uri="{FF2B5EF4-FFF2-40B4-BE49-F238E27FC236}">
                  <a16:creationId xmlns:a16="http://schemas.microsoft.com/office/drawing/2014/main" id="{1E51F914-3287-28BC-E4E8-B66BB75F6561}"/>
                </a:ext>
              </a:extLst>
            </p:cNvPr>
            <p:cNvSpPr/>
            <p:nvPr/>
          </p:nvSpPr>
          <p:spPr>
            <a:xfrm>
              <a:off x="0" y="0"/>
              <a:ext cx="4816592" cy="70418"/>
            </a:xfrm>
            <a:custGeom>
              <a:avLst/>
              <a:gdLst/>
              <a:ahLst/>
              <a:cxnLst/>
              <a:rect l="l" t="t" r="r" b="b"/>
              <a:pathLst>
                <a:path w="4816592" h="7041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0418"/>
                  </a:lnTo>
                  <a:lnTo>
                    <a:pt x="0" y="70418"/>
                  </a:lnTo>
                  <a:close/>
                </a:path>
              </a:pathLst>
            </a:custGeom>
            <a:solidFill>
              <a:srgbClr val="0AA34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>
              <a:extLst>
                <a:ext uri="{FF2B5EF4-FFF2-40B4-BE49-F238E27FC236}">
                  <a16:creationId xmlns:a16="http://schemas.microsoft.com/office/drawing/2014/main" id="{E8DD3EE8-489E-2E5C-E15C-2BDECFE9361A}"/>
                </a:ext>
              </a:extLst>
            </p:cNvPr>
            <p:cNvSpPr txBox="1"/>
            <p:nvPr/>
          </p:nvSpPr>
          <p:spPr>
            <a:xfrm>
              <a:off x="0" y="-38100"/>
              <a:ext cx="4816500" cy="10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2">
            <a:extLst>
              <a:ext uri="{FF2B5EF4-FFF2-40B4-BE49-F238E27FC236}">
                <a16:creationId xmlns:a16="http://schemas.microsoft.com/office/drawing/2014/main" id="{F189A5B0-C3AC-DDE1-71BA-500E942D5A79}"/>
              </a:ext>
            </a:extLst>
          </p:cNvPr>
          <p:cNvSpPr txBox="1"/>
          <p:nvPr/>
        </p:nvSpPr>
        <p:spPr>
          <a:xfrm>
            <a:off x="980522" y="975909"/>
            <a:ext cx="11064000" cy="116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lang="en-US" sz="5800" b="1" dirty="0"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 sz="58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29EB7-F62F-C7A1-15D9-A38F4F09DF02}"/>
              </a:ext>
            </a:extLst>
          </p:cNvPr>
          <p:cNvSpPr txBox="1"/>
          <p:nvPr/>
        </p:nvSpPr>
        <p:spPr>
          <a:xfrm>
            <a:off x="3060498" y="9630673"/>
            <a:ext cx="1170246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dk1"/>
                </a:solidFill>
                <a:latin typeface="Quattrocento Sans"/>
              </a:rPr>
              <a:t> </a:t>
            </a:r>
            <a:r>
              <a:rPr lang="en-US" sz="3200" b="1" i="1" dirty="0">
                <a:solidFill>
                  <a:schemeClr val="dk1"/>
                </a:solidFill>
                <a:latin typeface="Quattrocento Sans"/>
              </a:rPr>
              <a:t>How can farmers survive when they can’t trust what they see?</a:t>
            </a:r>
          </a:p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5291" y="7834745"/>
            <a:ext cx="1857307" cy="23938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6274" y="2039812"/>
            <a:ext cx="14756501" cy="8729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Misinformation in agriculture, especially through video content, misleads farmers, stifles innovation, and erodes public trust.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in Kenya, a government-issued fertilizer scandal in 2024 exposed how low-quality inputs were distributed to farmers, leading to massive losses. Videos and conflicting reports created confusion, and no system was in place to verify authenticity.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60% of disinformation campaigns in Africa are foreign state-sponsored (Africa Center for Strategic Studies, 2024).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sz="2800" dirty="0">
                <a:solidFill>
                  <a:schemeClr val="dk1"/>
                </a:solidFill>
                <a:latin typeface="Quattrocento Sans" panose="020B0502050000020003" pitchFamily="34" charset="0"/>
                <a:sym typeface="Calibri"/>
              </a:rPr>
              <a:t>                 </a:t>
            </a:r>
            <a:r>
              <a:rPr lang="en-US" sz="4800" b="1" u="sng" dirty="0">
                <a:solidFill>
                  <a:schemeClr val="dk1"/>
                </a:solidFill>
                <a:latin typeface="Quattrocento Sans" panose="020B0502050000020003" pitchFamily="34" charset="0"/>
                <a:sym typeface="Calibri"/>
              </a:rPr>
              <a:t>IMPACT OF THE PROBLEM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adopt unsafe or unproven practices.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Rejection of innovations like GMOs and modern irrigation.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trust in research and policy erodes.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Policy-makers struggle to combat viral falsehoods.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Kenya’s 2024 fertilizer scandal spread rapidly through unverified media, compounding farmers' confusion and reducing trust in official Agri programs.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 A fast, accessible way to verify the credibility of agricultural video content.</a:t>
            </a:r>
          </a:p>
          <a:p>
            <a:pPr algn="just">
              <a:lnSpc>
                <a:spcPct val="110000"/>
              </a:lnSpc>
            </a:pPr>
            <a:endParaRPr lang="en-US" sz="2800" dirty="0">
              <a:solidFill>
                <a:schemeClr val="dk1"/>
              </a:solidFill>
              <a:latin typeface="Quattrocento Sans" panose="020B0502050000020003" pitchFamily="34" charset="0"/>
              <a:sym typeface="Calibri"/>
            </a:endParaRPr>
          </a:p>
          <a:p>
            <a:pPr marL="457200" lvl="4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Quattrocento Sans" panose="020B0502050000020003" pitchFamily="34" charset="0"/>
                <a:sym typeface="Calibri"/>
              </a:rPr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2477559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g29e78c63b65_0_0"/>
          <p:cNvGrpSpPr/>
          <p:nvPr/>
        </p:nvGrpSpPr>
        <p:grpSpPr>
          <a:xfrm>
            <a:off x="0" y="-144662"/>
            <a:ext cx="18288118" cy="412343"/>
            <a:chOff x="0" y="-38100"/>
            <a:chExt cx="4816592" cy="108600"/>
          </a:xfrm>
        </p:grpSpPr>
        <p:sp>
          <p:nvSpPr>
            <p:cNvPr id="113" name="Google Shape;113;g29e78c63b65_0_0"/>
            <p:cNvSpPr/>
            <p:nvPr/>
          </p:nvSpPr>
          <p:spPr>
            <a:xfrm>
              <a:off x="0" y="0"/>
              <a:ext cx="4816592" cy="70418"/>
            </a:xfrm>
            <a:custGeom>
              <a:avLst/>
              <a:gdLst/>
              <a:ahLst/>
              <a:cxnLst/>
              <a:rect l="l" t="t" r="r" b="b"/>
              <a:pathLst>
                <a:path w="4816592" h="7041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0418"/>
                  </a:lnTo>
                  <a:lnTo>
                    <a:pt x="0" y="70418"/>
                  </a:lnTo>
                  <a:close/>
                </a:path>
              </a:pathLst>
            </a:custGeom>
            <a:solidFill>
              <a:srgbClr val="0AA34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g29e78c63b65_0_0"/>
            <p:cNvSpPr txBox="1"/>
            <p:nvPr/>
          </p:nvSpPr>
          <p:spPr>
            <a:xfrm>
              <a:off x="0" y="-38100"/>
              <a:ext cx="4816500" cy="10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g29e78c63b65_0_0"/>
          <p:cNvSpPr txBox="1"/>
          <p:nvPr/>
        </p:nvSpPr>
        <p:spPr>
          <a:xfrm>
            <a:off x="1135298" y="521116"/>
            <a:ext cx="14310976" cy="116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lang="en-US" sz="5800" b="1" dirty="0"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58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 game-changing Solution</a:t>
            </a:r>
            <a:endParaRPr sz="58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g29e78c63b65_0_0"/>
          <p:cNvSpPr txBox="1"/>
          <p:nvPr/>
        </p:nvSpPr>
        <p:spPr>
          <a:xfrm>
            <a:off x="2789228" y="1856566"/>
            <a:ext cx="13672483" cy="8430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endParaRPr lang="en-US" sz="2800" b="1" dirty="0">
              <a:solidFill>
                <a:schemeClr val="dk1"/>
              </a:solidFill>
              <a:latin typeface="Quattrocento Sans"/>
              <a:sym typeface="Quattrocento Sans"/>
            </a:endParaRPr>
          </a:p>
          <a:p>
            <a:pPr algn="just"/>
            <a:r>
              <a:rPr lang="en-US" sz="2800" b="1" dirty="0" err="1">
                <a:solidFill>
                  <a:schemeClr val="dk1"/>
                </a:solidFill>
                <a:latin typeface="Quattrocento Sans"/>
                <a:sym typeface="Quattrocento Sans"/>
              </a:rPr>
              <a:t>AgriTrue</a:t>
            </a:r>
            <a:r>
              <a:rPr lang="en-US" sz="2800" b="1" dirty="0">
                <a:solidFill>
                  <a:schemeClr val="dk1"/>
                </a:solidFill>
                <a:latin typeface="Quattrocento Sans"/>
                <a:sym typeface="Quattrocento Sans"/>
              </a:rPr>
              <a:t>: </a:t>
            </a:r>
          </a:p>
          <a:p>
            <a:pPr algn="just"/>
            <a:r>
              <a:rPr lang="en-US" sz="2800" dirty="0">
                <a:solidFill>
                  <a:schemeClr val="dk1"/>
                </a:solidFill>
                <a:latin typeface="Quattrocento Sans"/>
                <a:sym typeface="Quattrocento Sans"/>
              </a:rPr>
              <a:t>An AI-powered platform that detects and corrects misinformation in agriculture.</a:t>
            </a:r>
          </a:p>
          <a:p>
            <a:pPr algn="just"/>
            <a:endParaRPr lang="en-US" sz="2800" dirty="0">
              <a:solidFill>
                <a:schemeClr val="dk1"/>
              </a:solidFill>
              <a:latin typeface="Quattrocento Sans"/>
              <a:sym typeface="Quattrocento Sans"/>
            </a:endParaRPr>
          </a:p>
          <a:p>
            <a:pPr algn="just"/>
            <a:r>
              <a:rPr lang="en-US" sz="2800" dirty="0">
                <a:solidFill>
                  <a:schemeClr val="dk1"/>
                </a:solidFill>
                <a:latin typeface="Quattrocento Sans"/>
                <a:sym typeface="Quattrocento Sans"/>
              </a:rPr>
              <a:t> </a:t>
            </a:r>
            <a:r>
              <a:rPr lang="en-US" sz="2800" b="1" dirty="0">
                <a:solidFill>
                  <a:schemeClr val="dk1"/>
                </a:solidFill>
                <a:latin typeface="Quattrocento Sans"/>
                <a:sym typeface="Quattrocento Sans"/>
              </a:rPr>
              <a:t>Features:   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Quattrocento Sans"/>
                <a:sym typeface="Quattrocento Sans"/>
              </a:rPr>
              <a:t>ML-powered file analysis (images, videos, documents)</a:t>
            </a:r>
          </a:p>
          <a:p>
            <a:pPr algn="just"/>
            <a:r>
              <a:rPr lang="en-US" sz="2800" dirty="0">
                <a:solidFill>
                  <a:schemeClr val="dk1"/>
                </a:solidFill>
                <a:latin typeface="Quattrocento Sans"/>
                <a:sym typeface="Quattrocento Sans"/>
              </a:rPr>
              <a:t>It flags potential misinformation by Analyzing photos, videos, csv files and pdfs uploaded by farmers, receiving real time recommendations to boost yields &amp; productivity.</a:t>
            </a:r>
          </a:p>
          <a:p>
            <a:pPr algn="just"/>
            <a:endParaRPr lang="en-US" sz="2800" dirty="0">
              <a:solidFill>
                <a:schemeClr val="dk1"/>
              </a:solidFill>
              <a:latin typeface="Quattrocento Sans"/>
              <a:sym typeface="Quattrocento Sans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Quattrocento Sans"/>
                <a:sym typeface="Quattrocento Sans"/>
              </a:rPr>
              <a:t>Community Notes for collaborative truth-checking   </a:t>
            </a:r>
          </a:p>
          <a:p>
            <a:pPr algn="just"/>
            <a:r>
              <a:rPr lang="en-US" sz="2800" dirty="0">
                <a:solidFill>
                  <a:schemeClr val="dk1"/>
                </a:solidFill>
                <a:latin typeface="Quattrocento Sans"/>
                <a:sym typeface="Quattrocento Sans"/>
              </a:rPr>
              <a:t> It allows experienced farmers, experts to add context to upvote/downvote a post.</a:t>
            </a:r>
          </a:p>
          <a:p>
            <a:pPr algn="just"/>
            <a:endParaRPr lang="en-US" sz="2800" dirty="0">
              <a:solidFill>
                <a:schemeClr val="dk1"/>
              </a:solidFill>
              <a:latin typeface="Quattrocento Sans"/>
              <a:sym typeface="Quattrocento Sans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Quattrocento Sans" panose="020B0502050000020003" pitchFamily="34" charset="0"/>
                <a:sym typeface="Quattrocento Sans"/>
              </a:rPr>
              <a:t>Accessible on mobile, web, and USSD (in local languages)</a:t>
            </a:r>
          </a:p>
          <a:p>
            <a:pPr algn="just"/>
            <a:r>
              <a:rPr lang="en-US" sz="2800" dirty="0">
                <a:solidFill>
                  <a:schemeClr val="dk1"/>
                </a:solidFill>
                <a:latin typeface="Quattrocento Sans" panose="020B0502050000020003" pitchFamily="34" charset="0"/>
                <a:sym typeface="Quattrocento Sans"/>
              </a:rPr>
              <a:t>It enables accessibility to rural farmers giving truth in 60 seconds.</a:t>
            </a:r>
          </a:p>
          <a:p>
            <a:pPr algn="just"/>
            <a:endParaRPr lang="en-US" sz="2800" dirty="0">
              <a:solidFill>
                <a:schemeClr val="dk1"/>
              </a:solidFill>
              <a:latin typeface="Quattrocento Sans" panose="020B0502050000020003" pitchFamily="34" charset="0"/>
              <a:sym typeface="Quattrocento Sans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Quattrocento Sans" panose="020B0502050000020003" pitchFamily="34" charset="0"/>
                <a:sym typeface="Quattrocento Sans"/>
              </a:rPr>
              <a:t>AI </a:t>
            </a:r>
            <a:r>
              <a:rPr lang="en-US" sz="2800" b="1" dirty="0" err="1">
                <a:solidFill>
                  <a:schemeClr val="dk1"/>
                </a:solidFill>
                <a:latin typeface="Quattrocento Sans" panose="020B0502050000020003" pitchFamily="34" charset="0"/>
                <a:sym typeface="Quattrocento Sans"/>
              </a:rPr>
              <a:t>Chatbot</a:t>
            </a:r>
            <a:endParaRPr lang="en-US" sz="2800" b="1" dirty="0">
              <a:solidFill>
                <a:schemeClr val="dk1"/>
              </a:solidFill>
              <a:latin typeface="Quattrocento Sans" panose="020B0502050000020003" pitchFamily="34" charset="0"/>
              <a:sym typeface="Quattrocento Sans"/>
            </a:endParaRPr>
          </a:p>
          <a:p>
            <a:pPr algn="just"/>
            <a:r>
              <a:rPr lang="en-US" sz="2800" dirty="0">
                <a:solidFill>
                  <a:schemeClr val="dk1"/>
                </a:solidFill>
                <a:latin typeface="Quattrocento Sans" panose="020B0502050000020003" pitchFamily="34" charset="0"/>
                <a:sym typeface="Quattrocento Sans"/>
              </a:rPr>
              <a:t>Available 24/7 to assist farmers with their day to day agricultural queries.</a:t>
            </a:r>
          </a:p>
          <a:p>
            <a:pPr algn="just"/>
            <a:endParaRPr lang="en-US" sz="2800" dirty="0">
              <a:solidFill>
                <a:schemeClr val="dk1"/>
              </a:solidFill>
              <a:latin typeface="Quattrocento Sans" panose="020B0502050000020003" pitchFamily="34" charset="0"/>
              <a:sym typeface="Quattrocento Sans"/>
            </a:endParaRPr>
          </a:p>
          <a:p>
            <a:pPr algn="just"/>
            <a:endParaRPr lang="en-US" sz="2800" b="1" dirty="0">
              <a:solidFill>
                <a:schemeClr val="dk1"/>
              </a:solidFill>
              <a:latin typeface="Quattrocento Sans"/>
              <a:sym typeface="Quattrocento Sans"/>
            </a:endParaRPr>
          </a:p>
          <a:p>
            <a:pPr algn="just"/>
            <a:endParaRPr lang="en-US" sz="2800" dirty="0">
              <a:solidFill>
                <a:schemeClr val="dk1"/>
              </a:solidFill>
              <a:latin typeface="Quattrocento Sans"/>
              <a:sym typeface="Quattrocento Sans"/>
            </a:endParaRPr>
          </a:p>
          <a:p>
            <a:pPr algn="just"/>
            <a:endParaRPr lang="en-US" sz="2800" dirty="0">
              <a:solidFill>
                <a:schemeClr val="dk1"/>
              </a:solidFill>
              <a:latin typeface="Quattrocento Sans"/>
              <a:sym typeface="Quattrocento San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5291" y="7834745"/>
            <a:ext cx="1857307" cy="2393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g29e78c63b65_0_0"/>
          <p:cNvGrpSpPr/>
          <p:nvPr/>
        </p:nvGrpSpPr>
        <p:grpSpPr>
          <a:xfrm>
            <a:off x="0" y="-144662"/>
            <a:ext cx="18288118" cy="412343"/>
            <a:chOff x="0" y="-38100"/>
            <a:chExt cx="4816592" cy="108600"/>
          </a:xfrm>
        </p:grpSpPr>
        <p:sp>
          <p:nvSpPr>
            <p:cNvPr id="113" name="Google Shape;113;g29e78c63b65_0_0"/>
            <p:cNvSpPr/>
            <p:nvPr/>
          </p:nvSpPr>
          <p:spPr>
            <a:xfrm>
              <a:off x="0" y="0"/>
              <a:ext cx="4816592" cy="70418"/>
            </a:xfrm>
            <a:custGeom>
              <a:avLst/>
              <a:gdLst/>
              <a:ahLst/>
              <a:cxnLst/>
              <a:rect l="l" t="t" r="r" b="b"/>
              <a:pathLst>
                <a:path w="4816592" h="7041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0418"/>
                  </a:lnTo>
                  <a:lnTo>
                    <a:pt x="0" y="70418"/>
                  </a:lnTo>
                  <a:close/>
                </a:path>
              </a:pathLst>
            </a:custGeom>
            <a:solidFill>
              <a:srgbClr val="0AA34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g29e78c63b65_0_0"/>
            <p:cNvSpPr txBox="1"/>
            <p:nvPr/>
          </p:nvSpPr>
          <p:spPr>
            <a:xfrm>
              <a:off x="0" y="-38100"/>
              <a:ext cx="4816500" cy="10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g29e78c63b65_0_0"/>
          <p:cNvSpPr txBox="1"/>
          <p:nvPr/>
        </p:nvSpPr>
        <p:spPr>
          <a:xfrm>
            <a:off x="1135298" y="521116"/>
            <a:ext cx="14310976" cy="116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lang="en-US" sz="5800" b="1" dirty="0"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58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 game-changing Solution</a:t>
            </a:r>
            <a:endParaRPr sz="58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g29e78c63b65_0_0"/>
          <p:cNvSpPr txBox="1"/>
          <p:nvPr/>
        </p:nvSpPr>
        <p:spPr>
          <a:xfrm>
            <a:off x="0" y="1896322"/>
            <a:ext cx="12298930" cy="8430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Quattrocento Sans" panose="020B0502050000020003" pitchFamily="34" charset="0"/>
                <a:sym typeface="Quattrocento Sans"/>
              </a:rPr>
              <a:t>Farm Truth</a:t>
            </a:r>
          </a:p>
          <a:p>
            <a:pPr algn="just"/>
            <a:r>
              <a:rPr lang="en-US" sz="2800" dirty="0">
                <a:solidFill>
                  <a:schemeClr val="dk1"/>
                </a:solidFill>
                <a:latin typeface="Quattrocento Sans" panose="020B0502050000020003" pitchFamily="34" charset="0"/>
                <a:sym typeface="Quattrocento Sans"/>
              </a:rPr>
              <a:t>Analyzes agricultural data to generate detailed reports on farm outputs, and other critical farming metrics empowering farmers to make informed decisions.</a:t>
            </a:r>
          </a:p>
          <a:p>
            <a:pPr algn="just"/>
            <a:endParaRPr lang="en-US" sz="2800" dirty="0">
              <a:solidFill>
                <a:schemeClr val="dk1"/>
              </a:solidFill>
              <a:latin typeface="Quattrocento Sans" panose="020B0502050000020003" pitchFamily="34" charset="0"/>
              <a:sym typeface="Quattrocento Sans"/>
            </a:endParaRPr>
          </a:p>
          <a:p>
            <a:pPr algn="just"/>
            <a:endParaRPr lang="en-US" sz="2800" dirty="0">
              <a:solidFill>
                <a:schemeClr val="dk1"/>
              </a:solidFill>
              <a:latin typeface="Quattrocento Sans"/>
              <a:sym typeface="Quattrocento Sans"/>
            </a:endParaRPr>
          </a:p>
          <a:p>
            <a:pPr algn="just"/>
            <a:endParaRPr lang="en-US" sz="2800" dirty="0">
              <a:solidFill>
                <a:schemeClr val="dk1"/>
              </a:solidFill>
              <a:latin typeface="Quattrocento Sans"/>
              <a:sym typeface="Quattrocento San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5291" y="7874501"/>
            <a:ext cx="1857307" cy="2393847"/>
          </a:xfrm>
          <a:prstGeom prst="rect">
            <a:avLst/>
          </a:prstGeom>
        </p:spPr>
      </p:pic>
      <p:graphicFrame>
        <p:nvGraphicFramePr>
          <p:cNvPr id="17" name="Chart 16"/>
          <p:cNvGraphicFramePr/>
          <p:nvPr>
            <p:extLst>
              <p:ext uri="{D42A27DB-BD31-4B8C-83A1-F6EECF244321}">
                <p14:modId xmlns:p14="http://schemas.microsoft.com/office/powerpoint/2010/main" val="3212853861"/>
              </p:ext>
            </p:extLst>
          </p:nvPr>
        </p:nvGraphicFramePr>
        <p:xfrm>
          <a:off x="332185" y="3719821"/>
          <a:ext cx="5383812" cy="4611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3820175493"/>
              </p:ext>
            </p:extLst>
          </p:nvPr>
        </p:nvGraphicFramePr>
        <p:xfrm>
          <a:off x="6629886" y="3719821"/>
          <a:ext cx="5424171" cy="4611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563061" y="4049743"/>
            <a:ext cx="5504389" cy="5339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2408502274"/>
              </p:ext>
            </p:extLst>
          </p:nvPr>
        </p:nvGraphicFramePr>
        <p:xfrm>
          <a:off x="12444078" y="3388468"/>
          <a:ext cx="5383812" cy="4611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810" y="3719821"/>
            <a:ext cx="1255825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Quattrocento Sans" panose="020B0502050000020003" pitchFamily="34" charset="0"/>
              </a:rPr>
              <a:t>Know Your Land</a:t>
            </a:r>
          </a:p>
          <a:p>
            <a:pPr algn="just"/>
            <a:r>
              <a:rPr lang="en-US" sz="2800" dirty="0">
                <a:solidFill>
                  <a:schemeClr val="dk1"/>
                </a:solidFill>
                <a:latin typeface="Quattrocento Sans" panose="020B0502050000020003" pitchFamily="34" charset="0"/>
              </a:rPr>
              <a:t>Helps  Farmers understand their land by providing deep insights on soil types, crop performance and localized weather patterns. </a:t>
            </a: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491" y="5091659"/>
            <a:ext cx="6394920" cy="50219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411" y="5091658"/>
            <a:ext cx="6053389" cy="517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83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AsOne/>
      </p:bldGraphic>
      <p:bldGraphic spid="4" grpId="0">
        <p:bldAsOne/>
      </p:bldGraphic>
      <p:bldGraphic spid="8" grpId="0">
        <p:bldAsOne/>
      </p:bldGraphic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8FBFB65B-94A9-284E-7AF4-BB2BD6B91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g29e78c63b65_0_0">
            <a:extLst>
              <a:ext uri="{FF2B5EF4-FFF2-40B4-BE49-F238E27FC236}">
                <a16:creationId xmlns:a16="http://schemas.microsoft.com/office/drawing/2014/main" id="{06AF88DE-9D11-40AC-AA30-D84104A8E6BD}"/>
              </a:ext>
            </a:extLst>
          </p:cNvPr>
          <p:cNvGrpSpPr/>
          <p:nvPr/>
        </p:nvGrpSpPr>
        <p:grpSpPr>
          <a:xfrm>
            <a:off x="0" y="-144662"/>
            <a:ext cx="18288118" cy="412343"/>
            <a:chOff x="0" y="-38100"/>
            <a:chExt cx="4816592" cy="108600"/>
          </a:xfrm>
        </p:grpSpPr>
        <p:sp>
          <p:nvSpPr>
            <p:cNvPr id="113" name="Google Shape;113;g29e78c63b65_0_0">
              <a:extLst>
                <a:ext uri="{FF2B5EF4-FFF2-40B4-BE49-F238E27FC236}">
                  <a16:creationId xmlns:a16="http://schemas.microsoft.com/office/drawing/2014/main" id="{AA35526E-B7B6-F25D-1506-580E3B7B4BE7}"/>
                </a:ext>
              </a:extLst>
            </p:cNvPr>
            <p:cNvSpPr/>
            <p:nvPr/>
          </p:nvSpPr>
          <p:spPr>
            <a:xfrm>
              <a:off x="0" y="0"/>
              <a:ext cx="4816592" cy="70418"/>
            </a:xfrm>
            <a:custGeom>
              <a:avLst/>
              <a:gdLst/>
              <a:ahLst/>
              <a:cxnLst/>
              <a:rect l="l" t="t" r="r" b="b"/>
              <a:pathLst>
                <a:path w="4816592" h="7041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0418"/>
                  </a:lnTo>
                  <a:lnTo>
                    <a:pt x="0" y="70418"/>
                  </a:lnTo>
                  <a:close/>
                </a:path>
              </a:pathLst>
            </a:custGeom>
            <a:solidFill>
              <a:srgbClr val="0AA34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 panose="020B0502050000020003" pitchFamily="34" charset="0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g29e78c63b65_0_0">
              <a:extLst>
                <a:ext uri="{FF2B5EF4-FFF2-40B4-BE49-F238E27FC236}">
                  <a16:creationId xmlns:a16="http://schemas.microsoft.com/office/drawing/2014/main" id="{2FEBD01C-E172-ABC2-1572-3FDCB9FF5F93}"/>
                </a:ext>
              </a:extLst>
            </p:cNvPr>
            <p:cNvSpPr txBox="1"/>
            <p:nvPr/>
          </p:nvSpPr>
          <p:spPr>
            <a:xfrm>
              <a:off x="0" y="-38100"/>
              <a:ext cx="4816500" cy="10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 panose="020B0502050000020003" pitchFamily="34" charset="0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4EEF1-F457-688C-0665-0E0E07AC9B38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8387241" y="3238709"/>
            <a:ext cx="9106675" cy="5168064"/>
          </a:xfrm>
        </p:spPr>
        <p:txBody>
          <a:bodyPr>
            <a:normAutofit lnSpcReduction="10000"/>
          </a:bodyPr>
          <a:lstStyle/>
          <a:p>
            <a:pPr marL="76200" indent="0" algn="just">
              <a:buNone/>
            </a:pPr>
            <a:r>
              <a:rPr lang="en-US" sz="2800" b="1" dirty="0">
                <a:solidFill>
                  <a:schemeClr val="dk1"/>
                </a:solidFill>
                <a:latin typeface="Quattrocento Sans" panose="020B0502050000020003" pitchFamily="34" charset="0"/>
                <a:sym typeface="Quattrocento Sans"/>
              </a:rPr>
              <a:t>Social &amp; Economic Impact</a:t>
            </a:r>
          </a:p>
          <a:p>
            <a:pPr algn="just"/>
            <a:r>
              <a:rPr lang="en-US" sz="2800" dirty="0">
                <a:solidFill>
                  <a:schemeClr val="dk1"/>
                </a:solidFill>
                <a:latin typeface="Quattrocento Sans" panose="020B0502050000020003" pitchFamily="34" charset="0"/>
                <a:sym typeface="Quattrocento Sans"/>
              </a:rPr>
              <a:t>Enhances decision-making through trusted information.</a:t>
            </a:r>
          </a:p>
          <a:p>
            <a:pPr algn="just"/>
            <a:endParaRPr lang="en-US" sz="2800" dirty="0">
              <a:solidFill>
                <a:schemeClr val="dk1"/>
              </a:solidFill>
              <a:latin typeface="Quattrocento Sans" panose="020B0502050000020003" pitchFamily="34" charset="0"/>
              <a:sym typeface="Quattrocento Sans"/>
            </a:endParaRPr>
          </a:p>
          <a:p>
            <a:pPr algn="just"/>
            <a:r>
              <a:rPr lang="en-US" sz="2800" dirty="0">
                <a:solidFill>
                  <a:schemeClr val="dk1"/>
                </a:solidFill>
                <a:latin typeface="Quattrocento Sans" panose="020B0502050000020003" pitchFamily="34" charset="0"/>
                <a:sym typeface="Quattrocento Sans"/>
              </a:rPr>
              <a:t>Reduces the spread of agricultural misinformation.</a:t>
            </a:r>
          </a:p>
          <a:p>
            <a:pPr algn="just"/>
            <a:endParaRPr lang="en-US" sz="2800" dirty="0">
              <a:solidFill>
                <a:schemeClr val="dk1"/>
              </a:solidFill>
              <a:latin typeface="Quattrocento Sans" panose="020B0502050000020003" pitchFamily="34" charset="0"/>
              <a:sym typeface="Quattrocento Sans"/>
            </a:endParaRPr>
          </a:p>
          <a:p>
            <a:pPr algn="just"/>
            <a:r>
              <a:rPr lang="en-US" sz="2800" dirty="0">
                <a:solidFill>
                  <a:schemeClr val="dk1"/>
                </a:solidFill>
                <a:latin typeface="Quattrocento Sans" panose="020B0502050000020003" pitchFamily="34" charset="0"/>
                <a:sym typeface="Quattrocento Sans"/>
              </a:rPr>
              <a:t>Supports climate-smart and sustainable farming practices.</a:t>
            </a:r>
          </a:p>
          <a:p>
            <a:pPr algn="just"/>
            <a:endParaRPr lang="en-US" sz="2800" dirty="0">
              <a:solidFill>
                <a:schemeClr val="dk1"/>
              </a:solidFill>
              <a:latin typeface="Quattrocento Sans" panose="020B0502050000020003" pitchFamily="34" charset="0"/>
              <a:sym typeface="Quattrocento Sans"/>
            </a:endParaRPr>
          </a:p>
          <a:p>
            <a:pPr algn="just"/>
            <a:r>
              <a:rPr lang="en-US" sz="2800" dirty="0">
                <a:solidFill>
                  <a:schemeClr val="dk1"/>
                </a:solidFill>
                <a:latin typeface="Quattrocento Sans" panose="020B0502050000020003" pitchFamily="34" charset="0"/>
                <a:sym typeface="Quattrocento Sans"/>
              </a:rPr>
              <a:t>Builds community trust and resilience in digital agriculture.</a:t>
            </a:r>
          </a:p>
          <a:p>
            <a:endParaRPr lang="en-US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C2428392-BACE-4A07-B06F-4B3AF98F8C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5531072"/>
              </p:ext>
            </p:extLst>
          </p:nvPr>
        </p:nvGraphicFramePr>
        <p:xfrm>
          <a:off x="-1580505" y="3016003"/>
          <a:ext cx="12192000" cy="6276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Google Shape;126;g3554e73f43a_0_114">
            <a:extLst>
              <a:ext uri="{FF2B5EF4-FFF2-40B4-BE49-F238E27FC236}">
                <a16:creationId xmlns:a16="http://schemas.microsoft.com/office/drawing/2014/main" id="{D7E83BBA-B20D-4D40-92A5-BD8AC0DD68A0}"/>
              </a:ext>
            </a:extLst>
          </p:cNvPr>
          <p:cNvSpPr txBox="1"/>
          <p:nvPr/>
        </p:nvSpPr>
        <p:spPr>
          <a:xfrm>
            <a:off x="568192" y="411721"/>
            <a:ext cx="11437450" cy="116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0000"/>
              </a:lnSpc>
              <a:buSzPts val="5800"/>
            </a:pPr>
            <a:r>
              <a:rPr lang="en-US" sz="5800" b="1" dirty="0">
                <a:latin typeface="Poppins"/>
                <a:ea typeface="Poppins"/>
                <a:cs typeface="Poppins"/>
                <a:sym typeface="Poppins"/>
              </a:rPr>
              <a:t>Value Proposition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5291" y="7834745"/>
            <a:ext cx="1857307" cy="239384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143884" y="2845983"/>
            <a:ext cx="8991779" cy="3149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80"/>
              </a:spcBef>
              <a:buClr>
                <a:schemeClr val="dk1"/>
              </a:buClr>
              <a:buSzPts val="2400"/>
            </a:pPr>
            <a:r>
              <a:rPr lang="en-US" sz="2800" b="1" dirty="0">
                <a:solidFill>
                  <a:schemeClr val="dk1"/>
                </a:solidFill>
                <a:latin typeface="Quattrocento Sans" panose="020B0502050000020003" pitchFamily="34" charset="0"/>
                <a:ea typeface="Calibri"/>
                <a:cs typeface="Calibri"/>
                <a:sym typeface="Calibri"/>
              </a:rPr>
              <a:t>Scalability &amp; Future Plans</a:t>
            </a:r>
          </a:p>
          <a:p>
            <a:pPr marL="457200" indent="-457200" algn="just">
              <a:spcBef>
                <a:spcPts val="480"/>
              </a:spcBef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Quattrocento Sans" panose="020B0502050000020003" pitchFamily="34" charset="0"/>
                <a:ea typeface="Calibri"/>
                <a:cs typeface="Calibri"/>
                <a:sym typeface="Calibri"/>
              </a:rPr>
              <a:t>Expand detection to images and social media clips.</a:t>
            </a:r>
          </a:p>
          <a:p>
            <a:pPr marL="457200" indent="-457200" algn="just">
              <a:spcBef>
                <a:spcPts val="480"/>
              </a:spcBef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Quattrocento Sans" panose="020B0502050000020003" pitchFamily="34" charset="0"/>
                <a:ea typeface="Calibri"/>
                <a:cs typeface="Calibri"/>
                <a:sym typeface="Calibri"/>
              </a:rPr>
              <a:t>Mobile app version for offline use (</a:t>
            </a:r>
            <a:r>
              <a:rPr lang="en-US" sz="2800" dirty="0" err="1">
                <a:solidFill>
                  <a:schemeClr val="dk1"/>
                </a:solidFill>
                <a:latin typeface="Quattrocento Sans" panose="020B0502050000020003" pitchFamily="34" charset="0"/>
                <a:ea typeface="Calibri"/>
                <a:cs typeface="Calibri"/>
                <a:sym typeface="Calibri"/>
              </a:rPr>
              <a:t>ussd</a:t>
            </a:r>
            <a:r>
              <a:rPr lang="en-US" sz="2800" dirty="0">
                <a:solidFill>
                  <a:schemeClr val="dk1"/>
                </a:solidFill>
                <a:latin typeface="Quattrocento Sans" panose="020B0502050000020003" pitchFamily="34" charset="0"/>
                <a:ea typeface="Calibri"/>
                <a:cs typeface="Calibri"/>
                <a:sym typeface="Calibri"/>
              </a:rPr>
              <a:t>).</a:t>
            </a:r>
          </a:p>
          <a:p>
            <a:pPr marL="457200" indent="-457200" algn="just">
              <a:spcBef>
                <a:spcPts val="480"/>
              </a:spcBef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Quattrocento Sans" panose="020B0502050000020003" pitchFamily="34" charset="0"/>
                <a:ea typeface="Calibri"/>
                <a:cs typeface="Calibri"/>
                <a:sym typeface="Calibri"/>
              </a:rPr>
              <a:t>Integrate crowdsourced verification e.g. Community Notes.</a:t>
            </a:r>
          </a:p>
          <a:p>
            <a:pPr marL="457200" indent="-457200" algn="just">
              <a:spcBef>
                <a:spcPts val="480"/>
              </a:spcBef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Quattrocento Sans" panose="020B0502050000020003" pitchFamily="34" charset="0"/>
                <a:ea typeface="Calibri"/>
                <a:cs typeface="Calibri"/>
                <a:sym typeface="Calibri"/>
              </a:rPr>
              <a:t>Translate for local languages.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68063" y="8406773"/>
            <a:ext cx="5317958" cy="1531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9465" y="1464950"/>
            <a:ext cx="8674075" cy="46419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5043" y="6106916"/>
            <a:ext cx="6096000" cy="41800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0957" y="6106916"/>
            <a:ext cx="5926905" cy="412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81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Graphic spid="14" grpId="0">
        <p:bldAsOne/>
      </p:bldGraphic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g3554e73f43a_0_114"/>
          <p:cNvGrpSpPr/>
          <p:nvPr/>
        </p:nvGrpSpPr>
        <p:grpSpPr>
          <a:xfrm>
            <a:off x="0" y="-144662"/>
            <a:ext cx="18288118" cy="412343"/>
            <a:chOff x="0" y="-38100"/>
            <a:chExt cx="4816592" cy="108600"/>
          </a:xfrm>
        </p:grpSpPr>
        <p:sp>
          <p:nvSpPr>
            <p:cNvPr id="124" name="Google Shape;124;g3554e73f43a_0_114"/>
            <p:cNvSpPr/>
            <p:nvPr/>
          </p:nvSpPr>
          <p:spPr>
            <a:xfrm>
              <a:off x="0" y="0"/>
              <a:ext cx="4816592" cy="70418"/>
            </a:xfrm>
            <a:custGeom>
              <a:avLst/>
              <a:gdLst/>
              <a:ahLst/>
              <a:cxnLst/>
              <a:rect l="l" t="t" r="r" b="b"/>
              <a:pathLst>
                <a:path w="4816592" h="7041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0418"/>
                  </a:lnTo>
                  <a:lnTo>
                    <a:pt x="0" y="70418"/>
                  </a:lnTo>
                  <a:close/>
                </a:path>
              </a:pathLst>
            </a:custGeom>
            <a:solidFill>
              <a:srgbClr val="0AA34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g3554e73f43a_0_114"/>
            <p:cNvSpPr txBox="1"/>
            <p:nvPr/>
          </p:nvSpPr>
          <p:spPr>
            <a:xfrm>
              <a:off x="0" y="-38100"/>
              <a:ext cx="4816500" cy="10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g3554e73f43a_0_114"/>
          <p:cNvSpPr txBox="1"/>
          <p:nvPr/>
        </p:nvSpPr>
        <p:spPr>
          <a:xfrm>
            <a:off x="506993" y="267658"/>
            <a:ext cx="14221378" cy="232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0000"/>
              </a:lnSpc>
              <a:buSzPts val="5800"/>
            </a:pPr>
            <a:r>
              <a:rPr lang="en-US" sz="58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Market Landscape &amp; </a:t>
            </a:r>
            <a:r>
              <a:rPr lang="en-US" sz="5800" b="1" dirty="0">
                <a:latin typeface="Poppins"/>
                <a:ea typeface="Poppins"/>
                <a:cs typeface="Poppins"/>
                <a:sym typeface="Poppins"/>
              </a:rPr>
              <a:t>Sustainability  Model</a:t>
            </a:r>
            <a:endParaRPr sz="58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554e73f43a_0_114"/>
          <p:cNvSpPr txBox="1"/>
          <p:nvPr/>
        </p:nvSpPr>
        <p:spPr>
          <a:xfrm>
            <a:off x="360036" y="2588293"/>
            <a:ext cx="8277340" cy="1112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4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Target Users:</a:t>
            </a: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6183D31A-7646-823C-A2E5-CB16988DA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85" y="3224553"/>
            <a:ext cx="14381316" cy="51193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8707FE-DA45-477C-90FC-D73E2247CC5A}"/>
              </a:ext>
            </a:extLst>
          </p:cNvPr>
          <p:cNvSpPr txBox="1"/>
          <p:nvPr/>
        </p:nvSpPr>
        <p:spPr>
          <a:xfrm>
            <a:off x="11299371" y="3820886"/>
            <a:ext cx="50455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Validation of products</a:t>
            </a:r>
          </a:p>
          <a:p>
            <a:r>
              <a:rPr lang="en-US" sz="2000" dirty="0"/>
              <a:t>Real-time advice on fertilizers</a:t>
            </a:r>
          </a:p>
          <a:p>
            <a:r>
              <a:rPr lang="en-US" sz="2000" dirty="0"/>
              <a:t>Weather updates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AD47F5-80CC-4BCA-9480-D2ECF9CF8775}"/>
              </a:ext>
            </a:extLst>
          </p:cNvPr>
          <p:cNvSpPr txBox="1"/>
          <p:nvPr/>
        </p:nvSpPr>
        <p:spPr>
          <a:xfrm>
            <a:off x="1094015" y="6900643"/>
            <a:ext cx="37882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Access to the platform &amp; list their products</a:t>
            </a:r>
            <a:endParaRPr lang="en-KE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9BD4C2-ECAF-458E-8DE9-46791AA6749E}"/>
              </a:ext>
            </a:extLst>
          </p:cNvPr>
          <p:cNvSpPr txBox="1"/>
          <p:nvPr/>
        </p:nvSpPr>
        <p:spPr>
          <a:xfrm>
            <a:off x="2090056" y="3984440"/>
            <a:ext cx="344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Share Information</a:t>
            </a:r>
          </a:p>
          <a:p>
            <a:r>
              <a:rPr lang="en-US" sz="2000" dirty="0"/>
              <a:t>Use the platform tools</a:t>
            </a:r>
            <a:endParaRPr lang="en-KE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143E4A-3F8B-4BC7-B481-54264573DCBC}"/>
              </a:ext>
            </a:extLst>
          </p:cNvPr>
          <p:cNvSpPr txBox="1"/>
          <p:nvPr/>
        </p:nvSpPr>
        <p:spPr>
          <a:xfrm>
            <a:off x="10842171" y="6900643"/>
            <a:ext cx="50455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 information from the platform for sensitization</a:t>
            </a:r>
          </a:p>
          <a:p>
            <a:endParaRPr lang="en-KE" sz="2000" dirty="0"/>
          </a:p>
        </p:txBody>
      </p:sp>
      <p:sp>
        <p:nvSpPr>
          <p:cNvPr id="16" name="Google Shape;128;g3554e73f43a_0_114">
            <a:extLst>
              <a:ext uri="{FF2B5EF4-FFF2-40B4-BE49-F238E27FC236}">
                <a16:creationId xmlns:a16="http://schemas.microsoft.com/office/drawing/2014/main" id="{C64D4B48-AAE0-4F4C-8955-A9CAA9D803A6}"/>
              </a:ext>
            </a:extLst>
          </p:cNvPr>
          <p:cNvSpPr txBox="1"/>
          <p:nvPr/>
        </p:nvSpPr>
        <p:spPr>
          <a:xfrm>
            <a:off x="898878" y="8500679"/>
            <a:ext cx="16833950" cy="1561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>
              <a:buClr>
                <a:schemeClr val="dk1"/>
              </a:buClr>
              <a:buSzPts val="2800"/>
            </a:pPr>
            <a:r>
              <a:rPr lang="en-US" sz="4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4000" b="1" dirty="0">
                <a:solidFill>
                  <a:schemeClr val="dk1"/>
                </a:solidFill>
                <a:latin typeface="Quattrocento Sans"/>
              </a:rPr>
              <a:t>Freemium model for farmers (basic access is free), </a:t>
            </a:r>
            <a:r>
              <a:rPr lang="en-US" sz="4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Subscription, </a:t>
            </a:r>
            <a:r>
              <a:rPr lang="en-US" sz="4000" b="1" dirty="0">
                <a:solidFill>
                  <a:schemeClr val="dk1"/>
                </a:solidFill>
                <a:latin typeface="Quattrocento Sans"/>
                <a:sym typeface="Quattrocento Sans"/>
              </a:rPr>
              <a:t>Contracts-</a:t>
            </a:r>
            <a:r>
              <a:rPr lang="en-US" sz="4000" b="1" dirty="0">
                <a:solidFill>
                  <a:schemeClr val="dk1"/>
                </a:solidFill>
                <a:latin typeface="Quattrocento Sans"/>
              </a:rPr>
              <a:t> B2B licensing </a:t>
            </a:r>
            <a:r>
              <a:rPr lang="en-US" sz="4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(Government &amp; NGOs), Partnerships </a:t>
            </a: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08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5291" y="7834745"/>
            <a:ext cx="1857307" cy="2393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 close-up of hands shaking&#10;&#10;AI-generated content may be incorrect.">
            <a:extLst>
              <a:ext uri="{FF2B5EF4-FFF2-40B4-BE49-F238E27FC236}">
                <a16:creationId xmlns:a16="http://schemas.microsoft.com/office/drawing/2014/main" id="{D534DB5B-2ED2-74A7-E95B-E1CD0655F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0" y="220529"/>
            <a:ext cx="7843939" cy="10035451"/>
          </a:xfrm>
          <a:prstGeom prst="rect">
            <a:avLst/>
          </a:prstGeom>
        </p:spPr>
      </p:pic>
      <p:grpSp>
        <p:nvGrpSpPr>
          <p:cNvPr id="178" name="Google Shape;178;p9"/>
          <p:cNvGrpSpPr/>
          <p:nvPr/>
        </p:nvGrpSpPr>
        <p:grpSpPr>
          <a:xfrm>
            <a:off x="0" y="-144660"/>
            <a:ext cx="18288000" cy="412027"/>
            <a:chOff x="0" y="-38100"/>
            <a:chExt cx="4816593" cy="108518"/>
          </a:xfrm>
        </p:grpSpPr>
        <p:sp>
          <p:nvSpPr>
            <p:cNvPr id="179" name="Google Shape;179;p9"/>
            <p:cNvSpPr/>
            <p:nvPr/>
          </p:nvSpPr>
          <p:spPr>
            <a:xfrm>
              <a:off x="0" y="0"/>
              <a:ext cx="4816592" cy="70418"/>
            </a:xfrm>
            <a:custGeom>
              <a:avLst/>
              <a:gdLst/>
              <a:ahLst/>
              <a:cxnLst/>
              <a:rect l="l" t="t" r="r" b="b"/>
              <a:pathLst>
                <a:path w="4816592" h="7041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0418"/>
                  </a:lnTo>
                  <a:lnTo>
                    <a:pt x="0" y="70418"/>
                  </a:lnTo>
                  <a:close/>
                </a:path>
              </a:pathLst>
            </a:custGeom>
            <a:solidFill>
              <a:srgbClr val="106B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9"/>
            <p:cNvSpPr txBox="1"/>
            <p:nvPr/>
          </p:nvSpPr>
          <p:spPr>
            <a:xfrm>
              <a:off x="0" y="-38100"/>
              <a:ext cx="4816593" cy="108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" name="TextBox 46">
            <a:extLst>
              <a:ext uri="{FF2B5EF4-FFF2-40B4-BE49-F238E27FC236}">
                <a16:creationId xmlns:a16="http://schemas.microsoft.com/office/drawing/2014/main" id="{1BAB2995-D211-67D2-0D89-DAB95A66E163}"/>
              </a:ext>
            </a:extLst>
          </p:cNvPr>
          <p:cNvSpPr txBox="1"/>
          <p:nvPr/>
        </p:nvSpPr>
        <p:spPr>
          <a:xfrm>
            <a:off x="10754630" y="5559632"/>
            <a:ext cx="5230776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85"/>
              </a:lnSpc>
            </a:pPr>
            <a:r>
              <a:rPr lang="en-US" sz="718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1300D2-460F-41EB-B9B7-1A8A00F9DCA0}"/>
              </a:ext>
            </a:extLst>
          </p:cNvPr>
          <p:cNvGrpSpPr/>
          <p:nvPr/>
        </p:nvGrpSpPr>
        <p:grpSpPr>
          <a:xfrm>
            <a:off x="12058592" y="6510115"/>
            <a:ext cx="6831913" cy="483525"/>
            <a:chOff x="12830109" y="6440506"/>
            <a:chExt cx="6831913" cy="483525"/>
          </a:xfrm>
        </p:grpSpPr>
        <p:grpSp>
          <p:nvGrpSpPr>
            <p:cNvPr id="32" name="Group 47">
              <a:extLst>
                <a:ext uri="{FF2B5EF4-FFF2-40B4-BE49-F238E27FC236}">
                  <a16:creationId xmlns:a16="http://schemas.microsoft.com/office/drawing/2014/main" id="{18AAFF77-2B57-28DB-B390-6A31B1A3013A}"/>
                </a:ext>
              </a:extLst>
            </p:cNvPr>
            <p:cNvGrpSpPr/>
            <p:nvPr/>
          </p:nvGrpSpPr>
          <p:grpSpPr>
            <a:xfrm>
              <a:off x="12830109" y="6440506"/>
              <a:ext cx="6831913" cy="483525"/>
              <a:chOff x="0" y="0"/>
              <a:chExt cx="3746294" cy="265142"/>
            </a:xfrm>
          </p:grpSpPr>
          <p:sp>
            <p:nvSpPr>
              <p:cNvPr id="33" name="Freeform 48">
                <a:extLst>
                  <a:ext uri="{FF2B5EF4-FFF2-40B4-BE49-F238E27FC236}">
                    <a16:creationId xmlns:a16="http://schemas.microsoft.com/office/drawing/2014/main" id="{040EF45C-154D-6EB9-927F-C02BA08F8CD7}"/>
                  </a:ext>
                </a:extLst>
              </p:cNvPr>
              <p:cNvSpPr/>
              <p:nvPr/>
            </p:nvSpPr>
            <p:spPr>
              <a:xfrm>
                <a:off x="0" y="0"/>
                <a:ext cx="3746295" cy="265142"/>
              </a:xfrm>
              <a:custGeom>
                <a:avLst/>
                <a:gdLst/>
                <a:ahLst/>
                <a:cxnLst/>
                <a:rect l="l" t="t" r="r" b="b"/>
                <a:pathLst>
                  <a:path w="3746295" h="265142">
                    <a:moveTo>
                      <a:pt x="3543095" y="0"/>
                    </a:moveTo>
                    <a:lnTo>
                      <a:pt x="0" y="0"/>
                    </a:lnTo>
                    <a:lnTo>
                      <a:pt x="203200" y="265142"/>
                    </a:lnTo>
                    <a:lnTo>
                      <a:pt x="3746295" y="265142"/>
                    </a:lnTo>
                    <a:lnTo>
                      <a:pt x="3543095" y="0"/>
                    </a:lnTo>
                    <a:close/>
                  </a:path>
                </a:pathLst>
              </a:custGeom>
              <a:solidFill>
                <a:srgbClr val="393939"/>
              </a:solidFill>
            </p:spPr>
            <p:txBody>
              <a:bodyPr/>
              <a:lstStyle/>
              <a:p>
                <a:pPr>
                  <a:buClrTx/>
                  <a:buFontTx/>
                  <a:buNone/>
                </a:pPr>
                <a:endParaRPr lang="en-KE" sz="1200" kern="120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49">
                <a:extLst>
                  <a:ext uri="{FF2B5EF4-FFF2-40B4-BE49-F238E27FC236}">
                    <a16:creationId xmlns:a16="http://schemas.microsoft.com/office/drawing/2014/main" id="{3837C16F-E550-037D-DF3F-BC1EC3C0C694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3543094" cy="322292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  <a:buClrTx/>
                  <a:buFontTx/>
                  <a:buNone/>
                </a:pPr>
                <a:endParaRPr sz="1200" kern="120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35" name="TextBox 53">
              <a:extLst>
                <a:ext uri="{FF2B5EF4-FFF2-40B4-BE49-F238E27FC236}">
                  <a16:creationId xmlns:a16="http://schemas.microsoft.com/office/drawing/2014/main" id="{0FD4DA04-5778-2C3A-07D6-0B8CE40E5F7C}"/>
                </a:ext>
              </a:extLst>
            </p:cNvPr>
            <p:cNvSpPr txBox="1"/>
            <p:nvPr/>
          </p:nvSpPr>
          <p:spPr>
            <a:xfrm>
              <a:off x="13812353" y="6515555"/>
              <a:ext cx="4475647" cy="3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40"/>
                </a:lnSpc>
                <a:buClrTx/>
                <a:buFontTx/>
                <a:buNone/>
              </a:pPr>
              <a:r>
                <a:rPr lang="en-US" sz="2315" b="1" kern="1200" spc="752" dirty="0">
                  <a:solidFill>
                    <a:srgbClr val="FFBC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For Your Attention</a:t>
              </a:r>
            </a:p>
          </p:txBody>
        </p:sp>
      </p:grpSp>
      <p:grpSp>
        <p:nvGrpSpPr>
          <p:cNvPr id="36" name="Group 50">
            <a:extLst>
              <a:ext uri="{FF2B5EF4-FFF2-40B4-BE49-F238E27FC236}">
                <a16:creationId xmlns:a16="http://schemas.microsoft.com/office/drawing/2014/main" id="{05A7B84E-206E-DAA0-23DD-7AFCCFB64F54}"/>
              </a:ext>
            </a:extLst>
          </p:cNvPr>
          <p:cNvGrpSpPr/>
          <p:nvPr/>
        </p:nvGrpSpPr>
        <p:grpSpPr>
          <a:xfrm>
            <a:off x="11624579" y="6510113"/>
            <a:ext cx="762339" cy="483525"/>
            <a:chOff x="0" y="0"/>
            <a:chExt cx="418030" cy="265142"/>
          </a:xfrm>
        </p:grpSpPr>
        <p:sp>
          <p:nvSpPr>
            <p:cNvPr id="37" name="Freeform 51">
              <a:extLst>
                <a:ext uri="{FF2B5EF4-FFF2-40B4-BE49-F238E27FC236}">
                  <a16:creationId xmlns:a16="http://schemas.microsoft.com/office/drawing/2014/main" id="{49FCB99B-8374-CFAD-676E-F542F8E83998}"/>
                </a:ext>
              </a:extLst>
            </p:cNvPr>
            <p:cNvSpPr/>
            <p:nvPr/>
          </p:nvSpPr>
          <p:spPr>
            <a:xfrm>
              <a:off x="0" y="0"/>
              <a:ext cx="418030" cy="265142"/>
            </a:xfrm>
            <a:custGeom>
              <a:avLst/>
              <a:gdLst/>
              <a:ahLst/>
              <a:cxnLst/>
              <a:rect l="l" t="t" r="r" b="b"/>
              <a:pathLst>
                <a:path w="418030" h="265142">
                  <a:moveTo>
                    <a:pt x="214830" y="0"/>
                  </a:moveTo>
                  <a:lnTo>
                    <a:pt x="0" y="0"/>
                  </a:lnTo>
                  <a:lnTo>
                    <a:pt x="203200" y="265142"/>
                  </a:lnTo>
                  <a:lnTo>
                    <a:pt x="418030" y="265142"/>
                  </a:lnTo>
                  <a:lnTo>
                    <a:pt x="214830" y="0"/>
                  </a:lnTo>
                  <a:close/>
                </a:path>
              </a:pathLst>
            </a:custGeom>
            <a:solidFill>
              <a:srgbClr val="ED9B0F"/>
            </a:solidFill>
          </p:spPr>
          <p:txBody>
            <a:bodyPr/>
            <a:lstStyle/>
            <a:p>
              <a:pPr>
                <a:buClrTx/>
                <a:buFontTx/>
                <a:buNone/>
              </a:pPr>
              <a:endParaRPr lang="en-KE" sz="1200" kern="120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8" name="TextBox 52">
              <a:extLst>
                <a:ext uri="{FF2B5EF4-FFF2-40B4-BE49-F238E27FC236}">
                  <a16:creationId xmlns:a16="http://schemas.microsoft.com/office/drawing/2014/main" id="{D1B69FE1-AD2A-B791-BD7F-F68C960DCBD2}"/>
                </a:ext>
              </a:extLst>
            </p:cNvPr>
            <p:cNvSpPr txBox="1"/>
            <p:nvPr/>
          </p:nvSpPr>
          <p:spPr>
            <a:xfrm>
              <a:off x="101600" y="-57150"/>
              <a:ext cx="214830" cy="3222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buClrTx/>
                <a:buFontTx/>
                <a:buNone/>
              </a:pPr>
              <a:endParaRPr sz="1200" kern="120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1045E48-2DC4-E15E-913B-CB3A47A035BD}"/>
              </a:ext>
            </a:extLst>
          </p:cNvPr>
          <p:cNvSpPr txBox="1"/>
          <p:nvPr/>
        </p:nvSpPr>
        <p:spPr>
          <a:xfrm>
            <a:off x="13473390" y="7795839"/>
            <a:ext cx="54648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Quattrocento Sans" panose="020B0502050000020003" pitchFamily="34" charset="0"/>
              </a:rPr>
              <a:t>Contact us</a:t>
            </a:r>
          </a:p>
          <a:p>
            <a:endParaRPr lang="en-US" sz="2800" dirty="0">
              <a:highlight>
                <a:srgbClr val="00FF00"/>
              </a:highlight>
              <a:latin typeface="Quattrocento Sans" panose="020B0502050000020003" pitchFamily="34" charset="0"/>
            </a:endParaRPr>
          </a:p>
          <a:p>
            <a:endParaRPr lang="en-US" sz="2800" dirty="0">
              <a:highlight>
                <a:srgbClr val="00FF00"/>
              </a:highlight>
              <a:latin typeface="Quattrocento Sans" panose="020B0502050000020003" pitchFamily="34" charset="0"/>
            </a:endParaRPr>
          </a:p>
          <a:p>
            <a:r>
              <a:rPr lang="en-US" sz="3600" dirty="0">
                <a:highlight>
                  <a:srgbClr val="00FF00"/>
                </a:highlight>
                <a:latin typeface="Quattrocento Sans" panose="020B0502050000020003" pitchFamily="34" charset="0"/>
              </a:rPr>
              <a:t>agrritrue13@gmail.com</a:t>
            </a:r>
          </a:p>
        </p:txBody>
      </p:sp>
      <p:sp>
        <p:nvSpPr>
          <p:cNvPr id="39" name="Freeform 42">
            <a:extLst>
              <a:ext uri="{FF2B5EF4-FFF2-40B4-BE49-F238E27FC236}">
                <a16:creationId xmlns:a16="http://schemas.microsoft.com/office/drawing/2014/main" id="{AC75124D-F7F0-2431-864B-26D5E4235492}"/>
              </a:ext>
            </a:extLst>
          </p:cNvPr>
          <p:cNvSpPr/>
          <p:nvPr/>
        </p:nvSpPr>
        <p:spPr>
          <a:xfrm>
            <a:off x="16454506" y="7916716"/>
            <a:ext cx="896402" cy="810222"/>
          </a:xfrm>
          <a:custGeom>
            <a:avLst/>
            <a:gdLst/>
            <a:ahLst/>
            <a:cxnLst/>
            <a:rect l="l" t="t" r="r" b="b"/>
            <a:pathLst>
              <a:path w="913926" h="913926">
                <a:moveTo>
                  <a:pt x="0" y="0"/>
                </a:moveTo>
                <a:lnTo>
                  <a:pt x="913926" y="0"/>
                </a:lnTo>
                <a:lnTo>
                  <a:pt x="913926" y="913926"/>
                </a:lnTo>
                <a:lnTo>
                  <a:pt x="0" y="9139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K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KE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059F96-0758-0AA7-3E56-D4075925DC80}"/>
              </a:ext>
            </a:extLst>
          </p:cNvPr>
          <p:cNvSpPr txBox="1"/>
          <p:nvPr/>
        </p:nvSpPr>
        <p:spPr>
          <a:xfrm>
            <a:off x="9143998" y="2664429"/>
            <a:ext cx="8658785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latin typeface="Quattrocento Sans" panose="020B0502050000020003" pitchFamily="34" charset="0"/>
                <a:cs typeface="Times New Roman" panose="02020603050405020304" pitchFamily="18" charset="0"/>
              </a:rPr>
              <a:t>“He who has a mango tree in his yard receives more happy greetings during the mango season than ever” ~ African proverb.</a:t>
            </a:r>
          </a:p>
          <a:p>
            <a:endParaRPr lang="en-US" dirty="0"/>
          </a:p>
        </p:txBody>
      </p:sp>
      <p:sp>
        <p:nvSpPr>
          <p:cNvPr id="20" name="Freeform 2">
            <a:extLst>
              <a:ext uri="{FF2B5EF4-FFF2-40B4-BE49-F238E27FC236}">
                <a16:creationId xmlns:a16="http://schemas.microsoft.com/office/drawing/2014/main" id="{E6F00D01-2C50-66A1-309C-6EDF0EBBE4FD}"/>
              </a:ext>
            </a:extLst>
          </p:cNvPr>
          <p:cNvSpPr/>
          <p:nvPr/>
        </p:nvSpPr>
        <p:spPr>
          <a:xfrm>
            <a:off x="-83837" y="-1249438"/>
            <a:ext cx="1863344" cy="3327400"/>
          </a:xfrm>
          <a:custGeom>
            <a:avLst/>
            <a:gdLst/>
            <a:ahLst/>
            <a:cxnLst/>
            <a:rect l="l" t="t" r="r" b="b"/>
            <a:pathLst>
              <a:path w="2795016" h="4991100">
                <a:moveTo>
                  <a:pt x="0" y="0"/>
                </a:moveTo>
                <a:lnTo>
                  <a:pt x="2795016" y="0"/>
                </a:lnTo>
                <a:lnTo>
                  <a:pt x="2795016" y="4991100"/>
                </a:lnTo>
                <a:lnTo>
                  <a:pt x="0" y="4991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buClrTx/>
              <a:buFontTx/>
              <a:buNone/>
            </a:pPr>
            <a:endParaRPr lang="en-KE" sz="12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Freeform 18">
            <a:extLst>
              <a:ext uri="{FF2B5EF4-FFF2-40B4-BE49-F238E27FC236}">
                <a16:creationId xmlns:a16="http://schemas.microsoft.com/office/drawing/2014/main" id="{B729CDB1-D38D-9DC8-7986-25BF99EEE456}"/>
              </a:ext>
            </a:extLst>
          </p:cNvPr>
          <p:cNvSpPr/>
          <p:nvPr/>
        </p:nvSpPr>
        <p:spPr>
          <a:xfrm flipH="1">
            <a:off x="16508489" y="-1249438"/>
            <a:ext cx="1863344" cy="3327400"/>
          </a:xfrm>
          <a:custGeom>
            <a:avLst/>
            <a:gdLst/>
            <a:ahLst/>
            <a:cxnLst/>
            <a:rect l="l" t="t" r="r" b="b"/>
            <a:pathLst>
              <a:path w="2795016" h="4991100">
                <a:moveTo>
                  <a:pt x="2795016" y="0"/>
                </a:moveTo>
                <a:lnTo>
                  <a:pt x="0" y="0"/>
                </a:lnTo>
                <a:lnTo>
                  <a:pt x="0" y="4991100"/>
                </a:lnTo>
                <a:lnTo>
                  <a:pt x="2795016" y="4991100"/>
                </a:lnTo>
                <a:lnTo>
                  <a:pt x="27950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E" sz="1200"/>
          </a:p>
        </p:txBody>
      </p:sp>
      <p:sp>
        <p:nvSpPr>
          <p:cNvPr id="183" name="Google Shape;183;p9"/>
          <p:cNvSpPr txBox="1"/>
          <p:nvPr/>
        </p:nvSpPr>
        <p:spPr>
          <a:xfrm>
            <a:off x="78180" y="288869"/>
            <a:ext cx="13845081" cy="9967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4939" y="4755190"/>
            <a:ext cx="1252890" cy="1330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1895</TotalTime>
  <Words>558</Words>
  <Application>Microsoft Office PowerPoint</Application>
  <PresentationFormat>Custom</PresentationFormat>
  <Paragraphs>105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Calibri</vt:lpstr>
      <vt:lpstr>Poppins</vt:lpstr>
      <vt:lpstr>Poppins Semi-Bold</vt:lpstr>
      <vt:lpstr>Times New Roman</vt:lpstr>
      <vt:lpstr>Aptos</vt:lpstr>
      <vt:lpstr>Lexend</vt:lpstr>
      <vt:lpstr>Quattrocento Sans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E_Wanjiru</dc:creator>
  <cp:lastModifiedBy>Emmanuel Nyongesa</cp:lastModifiedBy>
  <cp:revision>54</cp:revision>
  <dcterms:created xsi:type="dcterms:W3CDTF">2006-08-16T00:00:00Z</dcterms:created>
  <dcterms:modified xsi:type="dcterms:W3CDTF">2026-06-20T19:29:32Z</dcterms:modified>
</cp:coreProperties>
</file>